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89" r:id="rId2"/>
    <p:sldId id="292" r:id="rId3"/>
    <p:sldId id="293" r:id="rId4"/>
    <p:sldId id="294" r:id="rId5"/>
    <p:sldId id="288" r:id="rId6"/>
    <p:sldId id="298" r:id="rId7"/>
    <p:sldId id="295" r:id="rId8"/>
    <p:sldId id="296" r:id="rId9"/>
    <p:sldId id="29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SG Forecasting" id="{7381CBD5-421C-496F-AD53-898D339F6C07}">
          <p14:sldIdLst>
            <p14:sldId id="289"/>
            <p14:sldId id="292"/>
          </p14:sldIdLst>
        </p14:section>
        <p14:section name="ESG Capacity Planning" id="{D1E7B14A-B390-42D4-8736-2BDCDD2C1D27}">
          <p14:sldIdLst>
            <p14:sldId id="293"/>
            <p14:sldId id="294"/>
          </p14:sldIdLst>
        </p14:section>
        <p14:section name="HES Forecasting" id="{7D40D6A8-EA74-4A11-AC41-D622AC11B925}">
          <p14:sldIdLst>
            <p14:sldId id="288"/>
            <p14:sldId id="298"/>
          </p14:sldIdLst>
        </p14:section>
        <p14:section name="HES Capacity Planning" id="{7C7BE9DB-D858-4009-9CD4-3EBA07B22EB0}">
          <p14:sldIdLst>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01" autoAdjust="0"/>
    <p:restoredTop sz="94660"/>
  </p:normalViewPr>
  <p:slideViewPr>
    <p:cSldViewPr snapToGrid="0">
      <p:cViewPr varScale="1">
        <p:scale>
          <a:sx n="56" d="100"/>
          <a:sy n="56" d="100"/>
        </p:scale>
        <p:origin x="13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rishikesh Yadav" userId="8a7a3a86-7d3a-4960-9e22-2ded49a59aaa" providerId="ADAL" clId="{68579454-B273-4520-8201-FFE0A96807A1}"/>
    <pc:docChg chg="delSld modSection">
      <pc:chgData name="Hrishikesh Yadav" userId="8a7a3a86-7d3a-4960-9e22-2ded49a59aaa" providerId="ADAL" clId="{68579454-B273-4520-8201-FFE0A96807A1}" dt="2026-06-30T14:32:18.422" v="4" actId="47"/>
      <pc:docMkLst>
        <pc:docMk/>
      </pc:docMkLst>
      <pc:sldChg chg="del">
        <pc:chgData name="Hrishikesh Yadav" userId="8a7a3a86-7d3a-4960-9e22-2ded49a59aaa" providerId="ADAL" clId="{68579454-B273-4520-8201-FFE0A96807A1}" dt="2026-06-30T14:31:59.397" v="0" actId="2696"/>
        <pc:sldMkLst>
          <pc:docMk/>
          <pc:sldMk cId="647617953" sldId="256"/>
        </pc:sldMkLst>
      </pc:sldChg>
      <pc:sldChg chg="del">
        <pc:chgData name="Hrishikesh Yadav" userId="8a7a3a86-7d3a-4960-9e22-2ded49a59aaa" providerId="ADAL" clId="{68579454-B273-4520-8201-FFE0A96807A1}" dt="2026-06-30T14:32:06.616" v="1" actId="2696"/>
        <pc:sldMkLst>
          <pc:docMk/>
          <pc:sldMk cId="889277419" sldId="281"/>
        </pc:sldMkLst>
      </pc:sldChg>
      <pc:sldChg chg="del">
        <pc:chgData name="Hrishikesh Yadav" userId="8a7a3a86-7d3a-4960-9e22-2ded49a59aaa" providerId="ADAL" clId="{68579454-B273-4520-8201-FFE0A96807A1}" dt="2026-06-30T14:32:09.334" v="2" actId="2696"/>
        <pc:sldMkLst>
          <pc:docMk/>
          <pc:sldMk cId="1551840236" sldId="283"/>
        </pc:sldMkLst>
      </pc:sldChg>
      <pc:sldChg chg="del">
        <pc:chgData name="Hrishikesh Yadav" userId="8a7a3a86-7d3a-4960-9e22-2ded49a59aaa" providerId="ADAL" clId="{68579454-B273-4520-8201-FFE0A96807A1}" dt="2026-06-30T14:32:12.097" v="3" actId="2696"/>
        <pc:sldMkLst>
          <pc:docMk/>
          <pc:sldMk cId="2947506410" sldId="284"/>
        </pc:sldMkLst>
      </pc:sldChg>
      <pc:sldChg chg="del">
        <pc:chgData name="Hrishikesh Yadav" userId="8a7a3a86-7d3a-4960-9e22-2ded49a59aaa" providerId="ADAL" clId="{68579454-B273-4520-8201-FFE0A96807A1}" dt="2026-06-30T14:32:18.422" v="4" actId="47"/>
        <pc:sldMkLst>
          <pc:docMk/>
          <pc:sldMk cId="427693815" sldId="285"/>
        </pc:sldMkLst>
      </pc:sldChg>
      <pc:sldChg chg="del">
        <pc:chgData name="Hrishikesh Yadav" userId="8a7a3a86-7d3a-4960-9e22-2ded49a59aaa" providerId="ADAL" clId="{68579454-B273-4520-8201-FFE0A96807A1}" dt="2026-06-30T14:32:18.422" v="4" actId="47"/>
        <pc:sldMkLst>
          <pc:docMk/>
          <pc:sldMk cId="1315288141" sldId="286"/>
        </pc:sldMkLst>
      </pc:sldChg>
      <pc:sldChg chg="del">
        <pc:chgData name="Hrishikesh Yadav" userId="8a7a3a86-7d3a-4960-9e22-2ded49a59aaa" providerId="ADAL" clId="{68579454-B273-4520-8201-FFE0A96807A1}" dt="2026-06-30T14:32:18.422" v="4" actId="47"/>
        <pc:sldMkLst>
          <pc:docMk/>
          <pc:sldMk cId="2595821510"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3D62A0-996B-4E02-83DB-0A2B8207C5C8}" type="datetimeFigureOut">
              <a:rPr lang="en-US" smtClean="0"/>
              <a:t>6/30/2026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0159E-0EFB-4F0B-85F2-13E2BF906025}" type="slidenum">
              <a:rPr lang="en-US" smtClean="0"/>
              <a:t>‹#›</a:t>
            </a:fld>
            <a:endParaRPr lang="en-US"/>
          </a:p>
        </p:txBody>
      </p:sp>
    </p:spTree>
    <p:extLst>
      <p:ext uri="{BB962C8B-B14F-4D97-AF65-F5344CB8AC3E}">
        <p14:creationId xmlns:p14="http://schemas.microsoft.com/office/powerpoint/2010/main" val="4276496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8E86A-CD9B-2600-3D64-E65A3DACA9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510F6-2C5F-107C-A998-80C7F390A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7A6D1-9C8B-3552-30FC-9E500B5104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E17DEE-FB94-71E7-0214-A12FCCD914CC}"/>
              </a:ext>
            </a:extLst>
          </p:cNvPr>
          <p:cNvSpPr>
            <a:spLocks noGrp="1"/>
          </p:cNvSpPr>
          <p:nvPr>
            <p:ph type="sldNum" sz="quarter" idx="5"/>
          </p:nvPr>
        </p:nvSpPr>
        <p:spPr/>
        <p:txBody>
          <a:bodyPr/>
          <a:lstStyle/>
          <a:p>
            <a:fld id="{1E40159E-0EFB-4F0B-85F2-13E2BF906025}" type="slidenum">
              <a:rPr lang="en-US" smtClean="0"/>
              <a:t>2</a:t>
            </a:fld>
            <a:endParaRPr lang="en-US"/>
          </a:p>
        </p:txBody>
      </p:sp>
    </p:spTree>
    <p:extLst>
      <p:ext uri="{BB962C8B-B14F-4D97-AF65-F5344CB8AC3E}">
        <p14:creationId xmlns:p14="http://schemas.microsoft.com/office/powerpoint/2010/main" val="3912897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DCD62-5CB5-AD17-E178-858006220C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89601F-712A-C57E-8589-6FF4D04403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C67CE91-E86F-23BF-D413-F531F8784877}"/>
              </a:ext>
            </a:extLst>
          </p:cNvPr>
          <p:cNvSpPr>
            <a:spLocks noGrp="1"/>
          </p:cNvSpPr>
          <p:nvPr>
            <p:ph type="dt" sz="half" idx="10"/>
          </p:nvPr>
        </p:nvSpPr>
        <p:spPr/>
        <p:txBody>
          <a:bodyPr/>
          <a:lstStyle/>
          <a:p>
            <a:fld id="{0C2CEDEF-3F4A-48E5-8C29-433C7028822C}" type="datetimeFigureOut">
              <a:rPr lang="en-IN" smtClean="0"/>
              <a:t>30-06-2026</a:t>
            </a:fld>
            <a:endParaRPr lang="en-IN"/>
          </a:p>
        </p:txBody>
      </p:sp>
      <p:sp>
        <p:nvSpPr>
          <p:cNvPr id="5" name="Footer Placeholder 4">
            <a:extLst>
              <a:ext uri="{FF2B5EF4-FFF2-40B4-BE49-F238E27FC236}">
                <a16:creationId xmlns:a16="http://schemas.microsoft.com/office/drawing/2014/main" id="{D3697764-10E7-FE89-57F6-159BDA7314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3665D9-B219-74B0-6012-E4C8F5AFA4A9}"/>
              </a:ext>
            </a:extLst>
          </p:cNvPr>
          <p:cNvSpPr>
            <a:spLocks noGrp="1"/>
          </p:cNvSpPr>
          <p:nvPr>
            <p:ph type="sldNum" sz="quarter" idx="12"/>
          </p:nvPr>
        </p:nvSpPr>
        <p:spPr/>
        <p:txBody>
          <a:bodyPr/>
          <a:lstStyle/>
          <a:p>
            <a:fld id="{96928F73-CF69-461E-B0CA-F75D7F3FBEA6}" type="slidenum">
              <a:rPr lang="en-IN" smtClean="0"/>
              <a:t>‹#›</a:t>
            </a:fld>
            <a:endParaRPr lang="en-IN"/>
          </a:p>
        </p:txBody>
      </p:sp>
    </p:spTree>
    <p:extLst>
      <p:ext uri="{BB962C8B-B14F-4D97-AF65-F5344CB8AC3E}">
        <p14:creationId xmlns:p14="http://schemas.microsoft.com/office/powerpoint/2010/main" val="802313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59270-2AE0-7A49-BACF-D8DBF8E69C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1D2822-86DE-6EDD-2AC4-F70BAC4FD3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928442-7BC4-E1AD-3510-0BF00C8E8D3F}"/>
              </a:ext>
            </a:extLst>
          </p:cNvPr>
          <p:cNvSpPr>
            <a:spLocks noGrp="1"/>
          </p:cNvSpPr>
          <p:nvPr>
            <p:ph type="dt" sz="half" idx="10"/>
          </p:nvPr>
        </p:nvSpPr>
        <p:spPr/>
        <p:txBody>
          <a:bodyPr/>
          <a:lstStyle/>
          <a:p>
            <a:fld id="{0C2CEDEF-3F4A-48E5-8C29-433C7028822C}" type="datetimeFigureOut">
              <a:rPr lang="en-IN" smtClean="0"/>
              <a:t>30-06-2026</a:t>
            </a:fld>
            <a:endParaRPr lang="en-IN"/>
          </a:p>
        </p:txBody>
      </p:sp>
      <p:sp>
        <p:nvSpPr>
          <p:cNvPr id="5" name="Footer Placeholder 4">
            <a:extLst>
              <a:ext uri="{FF2B5EF4-FFF2-40B4-BE49-F238E27FC236}">
                <a16:creationId xmlns:a16="http://schemas.microsoft.com/office/drawing/2014/main" id="{D6CCDBD2-6666-E9B5-011C-07BB5B6795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2DA507-F21C-C75B-0183-237A512A3687}"/>
              </a:ext>
            </a:extLst>
          </p:cNvPr>
          <p:cNvSpPr>
            <a:spLocks noGrp="1"/>
          </p:cNvSpPr>
          <p:nvPr>
            <p:ph type="sldNum" sz="quarter" idx="12"/>
          </p:nvPr>
        </p:nvSpPr>
        <p:spPr/>
        <p:txBody>
          <a:bodyPr/>
          <a:lstStyle/>
          <a:p>
            <a:fld id="{96928F73-CF69-461E-B0CA-F75D7F3FBEA6}" type="slidenum">
              <a:rPr lang="en-IN" smtClean="0"/>
              <a:t>‹#›</a:t>
            </a:fld>
            <a:endParaRPr lang="en-IN"/>
          </a:p>
        </p:txBody>
      </p:sp>
    </p:spTree>
    <p:extLst>
      <p:ext uri="{BB962C8B-B14F-4D97-AF65-F5344CB8AC3E}">
        <p14:creationId xmlns:p14="http://schemas.microsoft.com/office/powerpoint/2010/main" val="967422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39957-5091-2728-5EB7-F213A09D45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4A85C58-0C56-3142-B186-0900A1F450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1B5E19-65AA-DEC7-E4A9-6C56AD486086}"/>
              </a:ext>
            </a:extLst>
          </p:cNvPr>
          <p:cNvSpPr>
            <a:spLocks noGrp="1"/>
          </p:cNvSpPr>
          <p:nvPr>
            <p:ph type="dt" sz="half" idx="10"/>
          </p:nvPr>
        </p:nvSpPr>
        <p:spPr/>
        <p:txBody>
          <a:bodyPr/>
          <a:lstStyle/>
          <a:p>
            <a:fld id="{0C2CEDEF-3F4A-48E5-8C29-433C7028822C}" type="datetimeFigureOut">
              <a:rPr lang="en-IN" smtClean="0"/>
              <a:t>30-06-2026</a:t>
            </a:fld>
            <a:endParaRPr lang="en-IN"/>
          </a:p>
        </p:txBody>
      </p:sp>
      <p:sp>
        <p:nvSpPr>
          <p:cNvPr id="5" name="Footer Placeholder 4">
            <a:extLst>
              <a:ext uri="{FF2B5EF4-FFF2-40B4-BE49-F238E27FC236}">
                <a16:creationId xmlns:a16="http://schemas.microsoft.com/office/drawing/2014/main" id="{F8961A27-DD8D-AD28-1F24-B8615A8B93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11B771-803A-2D24-FFA5-1F5887542272}"/>
              </a:ext>
            </a:extLst>
          </p:cNvPr>
          <p:cNvSpPr>
            <a:spLocks noGrp="1"/>
          </p:cNvSpPr>
          <p:nvPr>
            <p:ph type="sldNum" sz="quarter" idx="12"/>
          </p:nvPr>
        </p:nvSpPr>
        <p:spPr/>
        <p:txBody>
          <a:bodyPr/>
          <a:lstStyle/>
          <a:p>
            <a:fld id="{96928F73-CF69-461E-B0CA-F75D7F3FBEA6}" type="slidenum">
              <a:rPr lang="en-IN" smtClean="0"/>
              <a:t>‹#›</a:t>
            </a:fld>
            <a:endParaRPr lang="en-IN"/>
          </a:p>
        </p:txBody>
      </p:sp>
    </p:spTree>
    <p:extLst>
      <p:ext uri="{BB962C8B-B14F-4D97-AF65-F5344CB8AC3E}">
        <p14:creationId xmlns:p14="http://schemas.microsoft.com/office/powerpoint/2010/main" val="1872798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021C4-B04E-C053-65DE-FED963AB85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7969A3-5C76-BF93-9571-BA5E8E4297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AA7D1E5-700F-DC0D-A842-EA4A95D582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4424654-0F86-0106-F523-096F6EA76A1C}"/>
              </a:ext>
            </a:extLst>
          </p:cNvPr>
          <p:cNvSpPr>
            <a:spLocks noGrp="1"/>
          </p:cNvSpPr>
          <p:nvPr>
            <p:ph type="dt" sz="half" idx="10"/>
          </p:nvPr>
        </p:nvSpPr>
        <p:spPr/>
        <p:txBody>
          <a:bodyPr/>
          <a:lstStyle/>
          <a:p>
            <a:fld id="{0C2CEDEF-3F4A-48E5-8C29-433C7028822C}" type="datetimeFigureOut">
              <a:rPr lang="en-IN" smtClean="0"/>
              <a:t>30-06-2026</a:t>
            </a:fld>
            <a:endParaRPr lang="en-IN"/>
          </a:p>
        </p:txBody>
      </p:sp>
      <p:sp>
        <p:nvSpPr>
          <p:cNvPr id="6" name="Footer Placeholder 5">
            <a:extLst>
              <a:ext uri="{FF2B5EF4-FFF2-40B4-BE49-F238E27FC236}">
                <a16:creationId xmlns:a16="http://schemas.microsoft.com/office/drawing/2014/main" id="{68F17BE4-2BC0-2649-F0C7-E01007845E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7C8396-D25D-C7C6-E706-1D669E382794}"/>
              </a:ext>
            </a:extLst>
          </p:cNvPr>
          <p:cNvSpPr>
            <a:spLocks noGrp="1"/>
          </p:cNvSpPr>
          <p:nvPr>
            <p:ph type="sldNum" sz="quarter" idx="12"/>
          </p:nvPr>
        </p:nvSpPr>
        <p:spPr/>
        <p:txBody>
          <a:bodyPr/>
          <a:lstStyle/>
          <a:p>
            <a:fld id="{96928F73-CF69-461E-B0CA-F75D7F3FBEA6}" type="slidenum">
              <a:rPr lang="en-IN" smtClean="0"/>
              <a:t>‹#›</a:t>
            </a:fld>
            <a:endParaRPr lang="en-IN"/>
          </a:p>
        </p:txBody>
      </p:sp>
    </p:spTree>
    <p:extLst>
      <p:ext uri="{BB962C8B-B14F-4D97-AF65-F5344CB8AC3E}">
        <p14:creationId xmlns:p14="http://schemas.microsoft.com/office/powerpoint/2010/main" val="1066055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71215-54F7-5159-FA7D-C4D9EEC0C6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5A3191-FFA7-216E-D004-28159E2887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ABECCB-FA14-DBBF-BDBE-297184C4AC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461D1E0-FAD6-3EE5-21F5-D80EEFCC0C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73662A-E3C0-0C96-B668-3567D10E72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7FD284-3759-2445-BFD3-605D126F4DF9}"/>
              </a:ext>
            </a:extLst>
          </p:cNvPr>
          <p:cNvSpPr>
            <a:spLocks noGrp="1"/>
          </p:cNvSpPr>
          <p:nvPr>
            <p:ph type="dt" sz="half" idx="10"/>
          </p:nvPr>
        </p:nvSpPr>
        <p:spPr/>
        <p:txBody>
          <a:bodyPr/>
          <a:lstStyle/>
          <a:p>
            <a:fld id="{0C2CEDEF-3F4A-48E5-8C29-433C7028822C}" type="datetimeFigureOut">
              <a:rPr lang="en-IN" smtClean="0"/>
              <a:t>30-06-2026</a:t>
            </a:fld>
            <a:endParaRPr lang="en-IN"/>
          </a:p>
        </p:txBody>
      </p:sp>
      <p:sp>
        <p:nvSpPr>
          <p:cNvPr id="8" name="Footer Placeholder 7">
            <a:extLst>
              <a:ext uri="{FF2B5EF4-FFF2-40B4-BE49-F238E27FC236}">
                <a16:creationId xmlns:a16="http://schemas.microsoft.com/office/drawing/2014/main" id="{C747135A-DDD3-5D63-1EA4-FB7F5E24BD1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033C44-6FCA-DB49-AB19-106DBF18094B}"/>
              </a:ext>
            </a:extLst>
          </p:cNvPr>
          <p:cNvSpPr>
            <a:spLocks noGrp="1"/>
          </p:cNvSpPr>
          <p:nvPr>
            <p:ph type="sldNum" sz="quarter" idx="12"/>
          </p:nvPr>
        </p:nvSpPr>
        <p:spPr/>
        <p:txBody>
          <a:bodyPr/>
          <a:lstStyle/>
          <a:p>
            <a:fld id="{96928F73-CF69-461E-B0CA-F75D7F3FBEA6}" type="slidenum">
              <a:rPr lang="en-IN" smtClean="0"/>
              <a:t>‹#›</a:t>
            </a:fld>
            <a:endParaRPr lang="en-IN"/>
          </a:p>
        </p:txBody>
      </p:sp>
    </p:spTree>
    <p:extLst>
      <p:ext uri="{BB962C8B-B14F-4D97-AF65-F5344CB8AC3E}">
        <p14:creationId xmlns:p14="http://schemas.microsoft.com/office/powerpoint/2010/main" val="1640400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AD2A2-DA1B-9EED-796E-441C101A95F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1F987-EBC7-B9BA-06E6-0EED1ECC5C0C}"/>
              </a:ext>
            </a:extLst>
          </p:cNvPr>
          <p:cNvSpPr>
            <a:spLocks noGrp="1"/>
          </p:cNvSpPr>
          <p:nvPr>
            <p:ph type="dt" sz="half" idx="10"/>
          </p:nvPr>
        </p:nvSpPr>
        <p:spPr/>
        <p:txBody>
          <a:bodyPr/>
          <a:lstStyle/>
          <a:p>
            <a:fld id="{0C2CEDEF-3F4A-48E5-8C29-433C7028822C}" type="datetimeFigureOut">
              <a:rPr lang="en-IN" smtClean="0"/>
              <a:t>30-06-2026</a:t>
            </a:fld>
            <a:endParaRPr lang="en-IN"/>
          </a:p>
        </p:txBody>
      </p:sp>
      <p:sp>
        <p:nvSpPr>
          <p:cNvPr id="4" name="Footer Placeholder 3">
            <a:extLst>
              <a:ext uri="{FF2B5EF4-FFF2-40B4-BE49-F238E27FC236}">
                <a16:creationId xmlns:a16="http://schemas.microsoft.com/office/drawing/2014/main" id="{C3F6E393-D174-03B7-4266-C11A40D155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2DEE9F9-9644-77D8-EF02-847015E84BB3}"/>
              </a:ext>
            </a:extLst>
          </p:cNvPr>
          <p:cNvSpPr>
            <a:spLocks noGrp="1"/>
          </p:cNvSpPr>
          <p:nvPr>
            <p:ph type="sldNum" sz="quarter" idx="12"/>
          </p:nvPr>
        </p:nvSpPr>
        <p:spPr/>
        <p:txBody>
          <a:bodyPr/>
          <a:lstStyle/>
          <a:p>
            <a:fld id="{96928F73-CF69-461E-B0CA-F75D7F3FBEA6}" type="slidenum">
              <a:rPr lang="en-IN" smtClean="0"/>
              <a:t>‹#›</a:t>
            </a:fld>
            <a:endParaRPr lang="en-IN"/>
          </a:p>
        </p:txBody>
      </p:sp>
    </p:spTree>
    <p:extLst>
      <p:ext uri="{BB962C8B-B14F-4D97-AF65-F5344CB8AC3E}">
        <p14:creationId xmlns:p14="http://schemas.microsoft.com/office/powerpoint/2010/main" val="312224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6D3EC0-867A-6477-737A-E444B8B40E7A}"/>
              </a:ext>
            </a:extLst>
          </p:cNvPr>
          <p:cNvSpPr>
            <a:spLocks noGrp="1"/>
          </p:cNvSpPr>
          <p:nvPr>
            <p:ph type="dt" sz="half" idx="10"/>
          </p:nvPr>
        </p:nvSpPr>
        <p:spPr/>
        <p:txBody>
          <a:bodyPr/>
          <a:lstStyle/>
          <a:p>
            <a:fld id="{0C2CEDEF-3F4A-48E5-8C29-433C7028822C}" type="datetimeFigureOut">
              <a:rPr lang="en-IN" smtClean="0"/>
              <a:t>30-06-2026</a:t>
            </a:fld>
            <a:endParaRPr lang="en-IN"/>
          </a:p>
        </p:txBody>
      </p:sp>
      <p:sp>
        <p:nvSpPr>
          <p:cNvPr id="3" name="Footer Placeholder 2">
            <a:extLst>
              <a:ext uri="{FF2B5EF4-FFF2-40B4-BE49-F238E27FC236}">
                <a16:creationId xmlns:a16="http://schemas.microsoft.com/office/drawing/2014/main" id="{911B6594-F165-8778-3FE3-7343BC3F953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9FEB34C-41CF-9F14-BC56-5D9B252E01B1}"/>
              </a:ext>
            </a:extLst>
          </p:cNvPr>
          <p:cNvSpPr>
            <a:spLocks noGrp="1"/>
          </p:cNvSpPr>
          <p:nvPr>
            <p:ph type="sldNum" sz="quarter" idx="12"/>
          </p:nvPr>
        </p:nvSpPr>
        <p:spPr/>
        <p:txBody>
          <a:bodyPr/>
          <a:lstStyle/>
          <a:p>
            <a:fld id="{96928F73-CF69-461E-B0CA-F75D7F3FBEA6}" type="slidenum">
              <a:rPr lang="en-IN" smtClean="0"/>
              <a:t>‹#›</a:t>
            </a:fld>
            <a:endParaRPr lang="en-IN"/>
          </a:p>
        </p:txBody>
      </p:sp>
    </p:spTree>
    <p:extLst>
      <p:ext uri="{BB962C8B-B14F-4D97-AF65-F5344CB8AC3E}">
        <p14:creationId xmlns:p14="http://schemas.microsoft.com/office/powerpoint/2010/main" val="366167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8F003-3CD5-A474-C5A3-7510A6220C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C9DD4A-EB45-73CC-4666-F393DBC4B8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34EB71-BFEA-E01E-C7D5-E3AD3C2CEE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25A7D5-9B72-85DE-8255-4ED5F13BF879}"/>
              </a:ext>
            </a:extLst>
          </p:cNvPr>
          <p:cNvSpPr>
            <a:spLocks noGrp="1"/>
          </p:cNvSpPr>
          <p:nvPr>
            <p:ph type="dt" sz="half" idx="10"/>
          </p:nvPr>
        </p:nvSpPr>
        <p:spPr/>
        <p:txBody>
          <a:bodyPr/>
          <a:lstStyle/>
          <a:p>
            <a:fld id="{0C2CEDEF-3F4A-48E5-8C29-433C7028822C}" type="datetimeFigureOut">
              <a:rPr lang="en-IN" smtClean="0"/>
              <a:t>30-06-2026</a:t>
            </a:fld>
            <a:endParaRPr lang="en-IN"/>
          </a:p>
        </p:txBody>
      </p:sp>
      <p:sp>
        <p:nvSpPr>
          <p:cNvPr id="6" name="Footer Placeholder 5">
            <a:extLst>
              <a:ext uri="{FF2B5EF4-FFF2-40B4-BE49-F238E27FC236}">
                <a16:creationId xmlns:a16="http://schemas.microsoft.com/office/drawing/2014/main" id="{4EB4121F-FFE9-7206-1BD9-E622DCEB3D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D08E93-1C5E-1C6A-CA3C-8A7AB5CD83F6}"/>
              </a:ext>
            </a:extLst>
          </p:cNvPr>
          <p:cNvSpPr>
            <a:spLocks noGrp="1"/>
          </p:cNvSpPr>
          <p:nvPr>
            <p:ph type="sldNum" sz="quarter" idx="12"/>
          </p:nvPr>
        </p:nvSpPr>
        <p:spPr/>
        <p:txBody>
          <a:bodyPr/>
          <a:lstStyle/>
          <a:p>
            <a:fld id="{96928F73-CF69-461E-B0CA-F75D7F3FBEA6}" type="slidenum">
              <a:rPr lang="en-IN" smtClean="0"/>
              <a:t>‹#›</a:t>
            </a:fld>
            <a:endParaRPr lang="en-IN"/>
          </a:p>
        </p:txBody>
      </p:sp>
    </p:spTree>
    <p:extLst>
      <p:ext uri="{BB962C8B-B14F-4D97-AF65-F5344CB8AC3E}">
        <p14:creationId xmlns:p14="http://schemas.microsoft.com/office/powerpoint/2010/main" val="900945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ED6A5-AAC2-41D3-0F0F-3D8D5C818D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8CADC36-BA3C-602F-1842-3A2C9A4066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A56C34-BAD3-FEB3-13A5-53D02298C8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4FDB07-5F5D-54E5-6DD5-5B604B2BA071}"/>
              </a:ext>
            </a:extLst>
          </p:cNvPr>
          <p:cNvSpPr>
            <a:spLocks noGrp="1"/>
          </p:cNvSpPr>
          <p:nvPr>
            <p:ph type="dt" sz="half" idx="10"/>
          </p:nvPr>
        </p:nvSpPr>
        <p:spPr/>
        <p:txBody>
          <a:bodyPr/>
          <a:lstStyle/>
          <a:p>
            <a:fld id="{0C2CEDEF-3F4A-48E5-8C29-433C7028822C}" type="datetimeFigureOut">
              <a:rPr lang="en-IN" smtClean="0"/>
              <a:t>30-06-2026</a:t>
            </a:fld>
            <a:endParaRPr lang="en-IN"/>
          </a:p>
        </p:txBody>
      </p:sp>
      <p:sp>
        <p:nvSpPr>
          <p:cNvPr id="6" name="Footer Placeholder 5">
            <a:extLst>
              <a:ext uri="{FF2B5EF4-FFF2-40B4-BE49-F238E27FC236}">
                <a16:creationId xmlns:a16="http://schemas.microsoft.com/office/drawing/2014/main" id="{C8817270-BEF1-2C0B-29A9-35716BF074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E2C022-D957-F201-0A9D-FFE24AC5DB27}"/>
              </a:ext>
            </a:extLst>
          </p:cNvPr>
          <p:cNvSpPr>
            <a:spLocks noGrp="1"/>
          </p:cNvSpPr>
          <p:nvPr>
            <p:ph type="sldNum" sz="quarter" idx="12"/>
          </p:nvPr>
        </p:nvSpPr>
        <p:spPr/>
        <p:txBody>
          <a:bodyPr/>
          <a:lstStyle/>
          <a:p>
            <a:fld id="{96928F73-CF69-461E-B0CA-F75D7F3FBEA6}" type="slidenum">
              <a:rPr lang="en-IN" smtClean="0"/>
              <a:t>‹#›</a:t>
            </a:fld>
            <a:endParaRPr lang="en-IN"/>
          </a:p>
        </p:txBody>
      </p:sp>
    </p:spTree>
    <p:extLst>
      <p:ext uri="{BB962C8B-B14F-4D97-AF65-F5344CB8AC3E}">
        <p14:creationId xmlns:p14="http://schemas.microsoft.com/office/powerpoint/2010/main" val="850646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4B703-0A77-AE9A-95A0-D1503D0C4B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3C6288-40F8-9B9F-C4BE-2A9D97CF2F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AAEDA3-2796-201A-4427-A995C8AAEFDD}"/>
              </a:ext>
            </a:extLst>
          </p:cNvPr>
          <p:cNvSpPr>
            <a:spLocks noGrp="1"/>
          </p:cNvSpPr>
          <p:nvPr>
            <p:ph type="dt" sz="half" idx="10"/>
          </p:nvPr>
        </p:nvSpPr>
        <p:spPr/>
        <p:txBody>
          <a:bodyPr/>
          <a:lstStyle/>
          <a:p>
            <a:fld id="{0C2CEDEF-3F4A-48E5-8C29-433C7028822C}" type="datetimeFigureOut">
              <a:rPr lang="en-IN" smtClean="0"/>
              <a:t>30-06-2026</a:t>
            </a:fld>
            <a:endParaRPr lang="en-IN"/>
          </a:p>
        </p:txBody>
      </p:sp>
      <p:sp>
        <p:nvSpPr>
          <p:cNvPr id="5" name="Footer Placeholder 4">
            <a:extLst>
              <a:ext uri="{FF2B5EF4-FFF2-40B4-BE49-F238E27FC236}">
                <a16:creationId xmlns:a16="http://schemas.microsoft.com/office/drawing/2014/main" id="{A7D54DBC-A19B-9713-1A8E-A7E1FB0141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D2F5E9-0CC1-5C80-6981-D1804FDBA98C}"/>
              </a:ext>
            </a:extLst>
          </p:cNvPr>
          <p:cNvSpPr>
            <a:spLocks noGrp="1"/>
          </p:cNvSpPr>
          <p:nvPr>
            <p:ph type="sldNum" sz="quarter" idx="12"/>
          </p:nvPr>
        </p:nvSpPr>
        <p:spPr/>
        <p:txBody>
          <a:bodyPr/>
          <a:lstStyle/>
          <a:p>
            <a:fld id="{96928F73-CF69-461E-B0CA-F75D7F3FBEA6}" type="slidenum">
              <a:rPr lang="en-IN" smtClean="0"/>
              <a:t>‹#›</a:t>
            </a:fld>
            <a:endParaRPr lang="en-IN"/>
          </a:p>
        </p:txBody>
      </p:sp>
    </p:spTree>
    <p:extLst>
      <p:ext uri="{BB962C8B-B14F-4D97-AF65-F5344CB8AC3E}">
        <p14:creationId xmlns:p14="http://schemas.microsoft.com/office/powerpoint/2010/main" val="3341778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8469F6-4873-F1E7-6DA6-80A089E749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C07FC7-3FA6-A403-506B-F2514338CA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00848F-0BF7-B11F-7774-C61B27D35E96}"/>
              </a:ext>
            </a:extLst>
          </p:cNvPr>
          <p:cNvSpPr>
            <a:spLocks noGrp="1"/>
          </p:cNvSpPr>
          <p:nvPr>
            <p:ph type="dt" sz="half" idx="10"/>
          </p:nvPr>
        </p:nvSpPr>
        <p:spPr/>
        <p:txBody>
          <a:bodyPr/>
          <a:lstStyle/>
          <a:p>
            <a:fld id="{0C2CEDEF-3F4A-48E5-8C29-433C7028822C}" type="datetimeFigureOut">
              <a:rPr lang="en-IN" smtClean="0"/>
              <a:t>30-06-2026</a:t>
            </a:fld>
            <a:endParaRPr lang="en-IN"/>
          </a:p>
        </p:txBody>
      </p:sp>
      <p:sp>
        <p:nvSpPr>
          <p:cNvPr id="5" name="Footer Placeholder 4">
            <a:extLst>
              <a:ext uri="{FF2B5EF4-FFF2-40B4-BE49-F238E27FC236}">
                <a16:creationId xmlns:a16="http://schemas.microsoft.com/office/drawing/2014/main" id="{E5476852-01A6-AD5D-B74A-2CBE9B1F85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B9FB46-C43D-2060-BE49-70433F39AA13}"/>
              </a:ext>
            </a:extLst>
          </p:cNvPr>
          <p:cNvSpPr>
            <a:spLocks noGrp="1"/>
          </p:cNvSpPr>
          <p:nvPr>
            <p:ph type="sldNum" sz="quarter" idx="12"/>
          </p:nvPr>
        </p:nvSpPr>
        <p:spPr/>
        <p:txBody>
          <a:bodyPr/>
          <a:lstStyle/>
          <a:p>
            <a:fld id="{96928F73-CF69-461E-B0CA-F75D7F3FBEA6}" type="slidenum">
              <a:rPr lang="en-IN" smtClean="0"/>
              <a:t>‹#›</a:t>
            </a:fld>
            <a:endParaRPr lang="en-IN"/>
          </a:p>
        </p:txBody>
      </p:sp>
    </p:spTree>
    <p:extLst>
      <p:ext uri="{BB962C8B-B14F-4D97-AF65-F5344CB8AC3E}">
        <p14:creationId xmlns:p14="http://schemas.microsoft.com/office/powerpoint/2010/main" val="3270029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41117E-947A-87F1-AFB9-5FED447D49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74F7FB-4EB7-FAA1-62AA-530B166B67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144FBF-9239-72D0-1236-3DFF2224AA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2CEDEF-3F4A-48E5-8C29-433C7028822C}" type="datetimeFigureOut">
              <a:rPr lang="en-IN" smtClean="0"/>
              <a:t>30-06-2026</a:t>
            </a:fld>
            <a:endParaRPr lang="en-IN"/>
          </a:p>
        </p:txBody>
      </p:sp>
      <p:sp>
        <p:nvSpPr>
          <p:cNvPr id="5" name="Footer Placeholder 4">
            <a:extLst>
              <a:ext uri="{FF2B5EF4-FFF2-40B4-BE49-F238E27FC236}">
                <a16:creationId xmlns:a16="http://schemas.microsoft.com/office/drawing/2014/main" id="{DD15C44E-6EA0-670E-E31B-D259A5FB2E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59B30E4-DD9D-2BC8-24C3-F4C5CF55A1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928F73-CF69-461E-B0CA-F75D7F3FBEA6}" type="slidenum">
              <a:rPr lang="en-IN" smtClean="0"/>
              <a:t>‹#›</a:t>
            </a:fld>
            <a:endParaRPr lang="en-IN"/>
          </a:p>
        </p:txBody>
      </p:sp>
    </p:spTree>
    <p:extLst>
      <p:ext uri="{BB962C8B-B14F-4D97-AF65-F5344CB8AC3E}">
        <p14:creationId xmlns:p14="http://schemas.microsoft.com/office/powerpoint/2010/main" val="1958091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B680B4-40FF-112E-4F19-D75C11D4C08F}"/>
              </a:ext>
            </a:extLst>
          </p:cNvPr>
          <p:cNvPicPr>
            <a:picLocks noChangeAspect="1"/>
          </p:cNvPicPr>
          <p:nvPr/>
        </p:nvPicPr>
        <p:blipFill>
          <a:blip r:embed="rId2"/>
          <a:stretch>
            <a:fillRect/>
          </a:stretch>
        </p:blipFill>
        <p:spPr>
          <a:xfrm>
            <a:off x="845910" y="108202"/>
            <a:ext cx="11215026" cy="1303183"/>
          </a:xfrm>
          <a:prstGeom prst="rect">
            <a:avLst/>
          </a:prstGeom>
        </p:spPr>
      </p:pic>
      <p:sp>
        <p:nvSpPr>
          <p:cNvPr id="6" name="TextBox 5">
            <a:extLst>
              <a:ext uri="{FF2B5EF4-FFF2-40B4-BE49-F238E27FC236}">
                <a16:creationId xmlns:a16="http://schemas.microsoft.com/office/drawing/2014/main" id="{2F3E048C-8B15-FB29-6903-C2221C90EB6D}"/>
              </a:ext>
            </a:extLst>
          </p:cNvPr>
          <p:cNvSpPr txBox="1"/>
          <p:nvPr/>
        </p:nvSpPr>
        <p:spPr>
          <a:xfrm>
            <a:off x="0" y="256032"/>
            <a:ext cx="671994" cy="276999"/>
          </a:xfrm>
          <a:prstGeom prst="rect">
            <a:avLst/>
          </a:prstGeom>
          <a:noFill/>
        </p:spPr>
        <p:txBody>
          <a:bodyPr wrap="square" rtlCol="0">
            <a:spAutoFit/>
          </a:bodyPr>
          <a:lstStyle/>
          <a:p>
            <a:r>
              <a:rPr lang="en-US" sz="1200" dirty="0"/>
              <a:t>Filters</a:t>
            </a:r>
          </a:p>
        </p:txBody>
      </p:sp>
      <p:sp>
        <p:nvSpPr>
          <p:cNvPr id="7" name="TextBox 6">
            <a:extLst>
              <a:ext uri="{FF2B5EF4-FFF2-40B4-BE49-F238E27FC236}">
                <a16:creationId xmlns:a16="http://schemas.microsoft.com/office/drawing/2014/main" id="{567CFD14-2855-3523-0AFA-AF704156D665}"/>
              </a:ext>
            </a:extLst>
          </p:cNvPr>
          <p:cNvSpPr txBox="1"/>
          <p:nvPr/>
        </p:nvSpPr>
        <p:spPr>
          <a:xfrm>
            <a:off x="0" y="1496568"/>
            <a:ext cx="671994" cy="276999"/>
          </a:xfrm>
          <a:prstGeom prst="rect">
            <a:avLst/>
          </a:prstGeom>
          <a:noFill/>
        </p:spPr>
        <p:txBody>
          <a:bodyPr wrap="square" rtlCol="0">
            <a:spAutoFit/>
          </a:bodyPr>
          <a:lstStyle/>
          <a:p>
            <a:r>
              <a:rPr lang="en-US" sz="1200" dirty="0"/>
              <a:t>Cards</a:t>
            </a:r>
          </a:p>
        </p:txBody>
      </p:sp>
      <p:sp>
        <p:nvSpPr>
          <p:cNvPr id="8" name="Rectangle 7">
            <a:extLst>
              <a:ext uri="{FF2B5EF4-FFF2-40B4-BE49-F238E27FC236}">
                <a16:creationId xmlns:a16="http://schemas.microsoft.com/office/drawing/2014/main" id="{9E724E24-A5F7-CCD9-9C12-749735703259}"/>
              </a:ext>
            </a:extLst>
          </p:cNvPr>
          <p:cNvSpPr/>
          <p:nvPr/>
        </p:nvSpPr>
        <p:spPr>
          <a:xfrm>
            <a:off x="1678014" y="1496568"/>
            <a:ext cx="1339506" cy="309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Total  Queues</a:t>
            </a:r>
            <a:br>
              <a:rPr lang="en-IN" sz="1000" dirty="0"/>
            </a:br>
            <a:r>
              <a:rPr lang="en-IN" sz="900" dirty="0"/>
              <a:t>Active and Inactive </a:t>
            </a:r>
          </a:p>
        </p:txBody>
      </p:sp>
      <p:sp>
        <p:nvSpPr>
          <p:cNvPr id="9" name="Rectangle 8">
            <a:extLst>
              <a:ext uri="{FF2B5EF4-FFF2-40B4-BE49-F238E27FC236}">
                <a16:creationId xmlns:a16="http://schemas.microsoft.com/office/drawing/2014/main" id="{C48CFE6C-1064-319C-A047-01BFF59F4B0E}"/>
              </a:ext>
            </a:extLst>
          </p:cNvPr>
          <p:cNvSpPr/>
          <p:nvPr/>
        </p:nvSpPr>
        <p:spPr>
          <a:xfrm>
            <a:off x="3494622" y="1496568"/>
            <a:ext cx="1339506" cy="309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Call Volume </a:t>
            </a:r>
            <a:br>
              <a:rPr lang="en-IN" sz="1000" dirty="0"/>
            </a:br>
            <a:r>
              <a:rPr lang="en-IN" sz="800" dirty="0"/>
              <a:t>Offered &amp; Handled  </a:t>
            </a:r>
          </a:p>
        </p:txBody>
      </p:sp>
      <p:sp>
        <p:nvSpPr>
          <p:cNvPr id="10" name="Rectangle 9">
            <a:extLst>
              <a:ext uri="{FF2B5EF4-FFF2-40B4-BE49-F238E27FC236}">
                <a16:creationId xmlns:a16="http://schemas.microsoft.com/office/drawing/2014/main" id="{1CBE25AD-53F1-7456-F99F-B6213AF03BE4}"/>
              </a:ext>
            </a:extLst>
          </p:cNvPr>
          <p:cNvSpPr/>
          <p:nvPr/>
        </p:nvSpPr>
        <p:spPr>
          <a:xfrm>
            <a:off x="5311230" y="1496568"/>
            <a:ext cx="1339506" cy="309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DB/OSP  offered </a:t>
            </a:r>
            <a:r>
              <a:rPr lang="en-IN" sz="800" dirty="0"/>
              <a:t>volume Split</a:t>
            </a:r>
          </a:p>
        </p:txBody>
      </p:sp>
      <p:sp>
        <p:nvSpPr>
          <p:cNvPr id="11" name="Rectangle 10">
            <a:extLst>
              <a:ext uri="{FF2B5EF4-FFF2-40B4-BE49-F238E27FC236}">
                <a16:creationId xmlns:a16="http://schemas.microsoft.com/office/drawing/2014/main" id="{FDFB6363-40DE-EB40-1341-B91B54CCC3F9}"/>
              </a:ext>
            </a:extLst>
          </p:cNvPr>
          <p:cNvSpPr/>
          <p:nvPr/>
        </p:nvSpPr>
        <p:spPr>
          <a:xfrm>
            <a:off x="7071248" y="1496568"/>
            <a:ext cx="1339506" cy="309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Forecast Accuracy </a:t>
            </a:r>
            <a:br>
              <a:rPr lang="en-IN" sz="1000" dirty="0"/>
            </a:br>
            <a:endParaRPr lang="en-IN" sz="800" dirty="0"/>
          </a:p>
        </p:txBody>
      </p:sp>
      <p:sp>
        <p:nvSpPr>
          <p:cNvPr id="12" name="Rectangle 11">
            <a:extLst>
              <a:ext uri="{FF2B5EF4-FFF2-40B4-BE49-F238E27FC236}">
                <a16:creationId xmlns:a16="http://schemas.microsoft.com/office/drawing/2014/main" id="{C10011E5-55A9-4521-B26B-FBEA9038D66B}"/>
              </a:ext>
            </a:extLst>
          </p:cNvPr>
          <p:cNvSpPr/>
          <p:nvPr/>
        </p:nvSpPr>
        <p:spPr>
          <a:xfrm>
            <a:off x="8831266" y="1496568"/>
            <a:ext cx="1739198" cy="309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defTabSz="914400" rtl="0" eaLnBrk="1" latinLnBrk="0" hangingPunct="1">
              <a:defRPr sz="1800" kern="1200">
                <a:solidFill>
                  <a:schemeClr val="lt1"/>
                </a:solidFill>
                <a:latin typeface="+mn-lt"/>
                <a:ea typeface="+mn-ea"/>
                <a:cs typeface="+mn-cs"/>
              </a:defRPr>
            </a:lvl1pPr>
            <a:lvl2pPr marL="457200" indent="0" algn="l" defTabSz="914400" rtl="0" eaLnBrk="1" latinLnBrk="0" hangingPunct="1">
              <a:defRPr sz="1800" kern="1200">
                <a:solidFill>
                  <a:schemeClr val="lt1"/>
                </a:solidFill>
                <a:latin typeface="+mn-lt"/>
                <a:ea typeface="+mn-ea"/>
                <a:cs typeface="+mn-cs"/>
              </a:defRPr>
            </a:lvl2pPr>
            <a:lvl3pPr marL="914400" indent="0" algn="l" defTabSz="914400" rtl="0" eaLnBrk="1" latinLnBrk="0" hangingPunct="1">
              <a:defRPr sz="1800" kern="1200">
                <a:solidFill>
                  <a:schemeClr val="lt1"/>
                </a:solidFill>
                <a:latin typeface="+mn-lt"/>
                <a:ea typeface="+mn-ea"/>
                <a:cs typeface="+mn-cs"/>
              </a:defRPr>
            </a:lvl3pPr>
            <a:lvl4pPr marL="1371600" indent="0" algn="l" defTabSz="914400" rtl="0" eaLnBrk="1" latinLnBrk="0" hangingPunct="1">
              <a:defRPr sz="1800" kern="1200">
                <a:solidFill>
                  <a:schemeClr val="lt1"/>
                </a:solidFill>
                <a:latin typeface="+mn-lt"/>
                <a:ea typeface="+mn-ea"/>
                <a:cs typeface="+mn-cs"/>
              </a:defRPr>
            </a:lvl4pPr>
            <a:lvl5pPr marL="1828800" indent="0" algn="l" defTabSz="914400" rtl="0" eaLnBrk="1" latinLnBrk="0" hangingPunct="1">
              <a:defRPr sz="1800" kern="1200">
                <a:solidFill>
                  <a:schemeClr val="lt1"/>
                </a:solidFill>
                <a:latin typeface="+mn-lt"/>
                <a:ea typeface="+mn-ea"/>
                <a:cs typeface="+mn-cs"/>
              </a:defRPr>
            </a:lvl5pPr>
            <a:lvl6pPr marL="2286000" indent="0" algn="l" defTabSz="914400" rtl="0" eaLnBrk="1" latinLnBrk="0" hangingPunct="1">
              <a:defRPr sz="1800" kern="1200">
                <a:solidFill>
                  <a:schemeClr val="lt1"/>
                </a:solidFill>
                <a:latin typeface="+mn-lt"/>
                <a:ea typeface="+mn-ea"/>
                <a:cs typeface="+mn-cs"/>
              </a:defRPr>
            </a:lvl6pPr>
            <a:lvl7pPr marL="2743200" indent="0" algn="l" defTabSz="914400" rtl="0" eaLnBrk="1" latinLnBrk="0" hangingPunct="1">
              <a:defRPr sz="1800" kern="1200">
                <a:solidFill>
                  <a:schemeClr val="lt1"/>
                </a:solidFill>
                <a:latin typeface="+mn-lt"/>
                <a:ea typeface="+mn-ea"/>
                <a:cs typeface="+mn-cs"/>
              </a:defRPr>
            </a:lvl7pPr>
            <a:lvl8pPr marL="3200400" indent="0" algn="l" defTabSz="914400" rtl="0" eaLnBrk="1" latinLnBrk="0" hangingPunct="1">
              <a:defRPr sz="1800" kern="1200">
                <a:solidFill>
                  <a:schemeClr val="lt1"/>
                </a:solidFill>
                <a:latin typeface="+mn-lt"/>
                <a:ea typeface="+mn-ea"/>
                <a:cs typeface="+mn-cs"/>
              </a:defRPr>
            </a:lvl8pPr>
            <a:lvl9pPr marL="3657600" indent="0" algn="l" defTabSz="914400" rtl="0" eaLnBrk="1" latinLnBrk="0" hangingPunct="1">
              <a:defRPr sz="1800" kern="1200">
                <a:solidFill>
                  <a:schemeClr val="lt1"/>
                </a:solidFill>
                <a:latin typeface="+mn-lt"/>
                <a:ea typeface="+mn-ea"/>
                <a:cs typeface="+mn-cs"/>
              </a:defRPr>
            </a:lvl9pPr>
          </a:lstStyle>
          <a:p>
            <a:pPr algn="ctr"/>
            <a:r>
              <a:rPr lang="en-IN" sz="1000" dirty="0"/>
              <a:t>% of CQN</a:t>
            </a:r>
            <a:r>
              <a:rPr lang="en-IN" sz="1000" baseline="0" dirty="0"/>
              <a:t> within +- 10 variance</a:t>
            </a:r>
            <a:endParaRPr lang="en-IN" sz="1000" dirty="0"/>
          </a:p>
        </p:txBody>
      </p:sp>
      <p:sp>
        <p:nvSpPr>
          <p:cNvPr id="13" name="TextBox 12">
            <a:extLst>
              <a:ext uri="{FF2B5EF4-FFF2-40B4-BE49-F238E27FC236}">
                <a16:creationId xmlns:a16="http://schemas.microsoft.com/office/drawing/2014/main" id="{9A0E5CD3-9816-2C84-556C-B3202AF1AF95}"/>
              </a:ext>
            </a:extLst>
          </p:cNvPr>
          <p:cNvSpPr txBox="1"/>
          <p:nvPr/>
        </p:nvSpPr>
        <p:spPr>
          <a:xfrm>
            <a:off x="0" y="2011519"/>
            <a:ext cx="944959" cy="553998"/>
          </a:xfrm>
          <a:prstGeom prst="rect">
            <a:avLst/>
          </a:prstGeom>
          <a:noFill/>
          <a:ln>
            <a:solidFill>
              <a:schemeClr val="accent1"/>
            </a:solidFill>
          </a:ln>
        </p:spPr>
        <p:txBody>
          <a:bodyPr wrap="square" rtlCol="0">
            <a:spAutoFit/>
          </a:bodyPr>
          <a:lstStyle/>
          <a:p>
            <a:r>
              <a:rPr lang="en-IN" sz="1000" dirty="0"/>
              <a:t>Drill down while click on the Cards</a:t>
            </a:r>
          </a:p>
        </p:txBody>
      </p:sp>
      <p:sp>
        <p:nvSpPr>
          <p:cNvPr id="14" name="Rectangle 13">
            <a:extLst>
              <a:ext uri="{FF2B5EF4-FFF2-40B4-BE49-F238E27FC236}">
                <a16:creationId xmlns:a16="http://schemas.microsoft.com/office/drawing/2014/main" id="{B50ADE75-E67D-8FD3-29C2-74774AC97CA7}"/>
              </a:ext>
            </a:extLst>
          </p:cNvPr>
          <p:cNvSpPr/>
          <p:nvPr/>
        </p:nvSpPr>
        <p:spPr>
          <a:xfrm>
            <a:off x="1571479" y="2011520"/>
            <a:ext cx="1552575"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List of Active queues </a:t>
            </a:r>
          </a:p>
        </p:txBody>
      </p:sp>
      <p:sp>
        <p:nvSpPr>
          <p:cNvPr id="15" name="Rectangle 14">
            <a:extLst>
              <a:ext uri="{FF2B5EF4-FFF2-40B4-BE49-F238E27FC236}">
                <a16:creationId xmlns:a16="http://schemas.microsoft.com/office/drawing/2014/main" id="{4A8AF476-A631-1D87-BD01-AD7383C17C5A}"/>
              </a:ext>
            </a:extLst>
          </p:cNvPr>
          <p:cNvSpPr/>
          <p:nvPr/>
        </p:nvSpPr>
        <p:spPr>
          <a:xfrm>
            <a:off x="3388087" y="2011519"/>
            <a:ext cx="1552575"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800" dirty="0"/>
              <a:t>Column chart with offered and handled and line for handled % based on Fiscal </a:t>
            </a:r>
            <a:r>
              <a:rPr lang="en-IN" sz="800" dirty="0" err="1"/>
              <a:t>year,qtr,month,week</a:t>
            </a:r>
            <a:endParaRPr lang="en-IN" sz="800" dirty="0"/>
          </a:p>
        </p:txBody>
      </p:sp>
      <p:sp>
        <p:nvSpPr>
          <p:cNvPr id="16" name="Rectangle 15">
            <a:extLst>
              <a:ext uri="{FF2B5EF4-FFF2-40B4-BE49-F238E27FC236}">
                <a16:creationId xmlns:a16="http://schemas.microsoft.com/office/drawing/2014/main" id="{9D65F273-7FA0-AC2B-C548-C44A0E4B7D38}"/>
              </a:ext>
            </a:extLst>
          </p:cNvPr>
          <p:cNvSpPr/>
          <p:nvPr/>
        </p:nvSpPr>
        <p:spPr>
          <a:xfrm>
            <a:off x="5204695" y="2011519"/>
            <a:ext cx="1552575"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800" dirty="0"/>
              <a:t>Column chart with DB and OSP based on Fiscal </a:t>
            </a:r>
            <a:r>
              <a:rPr lang="en-IN" sz="800" dirty="0" err="1"/>
              <a:t>year,qtr,month,week</a:t>
            </a:r>
            <a:endParaRPr lang="en-IN" sz="800" dirty="0"/>
          </a:p>
        </p:txBody>
      </p:sp>
      <p:sp>
        <p:nvSpPr>
          <p:cNvPr id="17" name="Rectangle 16">
            <a:extLst>
              <a:ext uri="{FF2B5EF4-FFF2-40B4-BE49-F238E27FC236}">
                <a16:creationId xmlns:a16="http://schemas.microsoft.com/office/drawing/2014/main" id="{C6004E79-309F-8F25-656A-9928D04A57D3}"/>
              </a:ext>
            </a:extLst>
          </p:cNvPr>
          <p:cNvSpPr/>
          <p:nvPr/>
        </p:nvSpPr>
        <p:spPr>
          <a:xfrm>
            <a:off x="7021303" y="2011519"/>
            <a:ext cx="1552575"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800" dirty="0"/>
              <a:t>Column chart with actuals and forecast and line for forecast accuracy  based on Fiscal </a:t>
            </a:r>
            <a:r>
              <a:rPr lang="en-IN" sz="800" dirty="0" err="1"/>
              <a:t>year,qtr,month,week</a:t>
            </a:r>
            <a:endParaRPr lang="en-IN" sz="800" dirty="0"/>
          </a:p>
        </p:txBody>
      </p:sp>
      <p:sp>
        <p:nvSpPr>
          <p:cNvPr id="18" name="Rectangle 17">
            <a:extLst>
              <a:ext uri="{FF2B5EF4-FFF2-40B4-BE49-F238E27FC236}">
                <a16:creationId xmlns:a16="http://schemas.microsoft.com/office/drawing/2014/main" id="{F14FC056-33AE-4EBD-8863-546C8F16D469}"/>
              </a:ext>
            </a:extLst>
          </p:cNvPr>
          <p:cNvSpPr/>
          <p:nvPr/>
        </p:nvSpPr>
        <p:spPr>
          <a:xfrm>
            <a:off x="8875260" y="2011519"/>
            <a:ext cx="1552575"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dirty="0"/>
              <a:t>What is the percentage of queues with variance less than</a:t>
            </a:r>
          </a:p>
          <a:p>
            <a:r>
              <a:rPr lang="en-US" sz="800" dirty="0"/>
              <a:t> 10% variance and what are those queues</a:t>
            </a:r>
            <a:endParaRPr lang="en-IN" sz="800" dirty="0"/>
          </a:p>
        </p:txBody>
      </p:sp>
      <p:sp>
        <p:nvSpPr>
          <p:cNvPr id="20" name="TextBox 19">
            <a:extLst>
              <a:ext uri="{FF2B5EF4-FFF2-40B4-BE49-F238E27FC236}">
                <a16:creationId xmlns:a16="http://schemas.microsoft.com/office/drawing/2014/main" id="{FC5CDD5A-1ADB-1D39-51DF-CD7BD186640D}"/>
              </a:ext>
            </a:extLst>
          </p:cNvPr>
          <p:cNvSpPr txBox="1"/>
          <p:nvPr/>
        </p:nvSpPr>
        <p:spPr>
          <a:xfrm>
            <a:off x="0" y="2803469"/>
            <a:ext cx="671994" cy="276999"/>
          </a:xfrm>
          <a:prstGeom prst="rect">
            <a:avLst/>
          </a:prstGeom>
          <a:noFill/>
        </p:spPr>
        <p:txBody>
          <a:bodyPr wrap="square" rtlCol="0">
            <a:spAutoFit/>
          </a:bodyPr>
          <a:lstStyle/>
          <a:p>
            <a:r>
              <a:rPr lang="en-US" sz="1200" dirty="0"/>
              <a:t>Graphs</a:t>
            </a:r>
          </a:p>
        </p:txBody>
      </p:sp>
      <p:sp>
        <p:nvSpPr>
          <p:cNvPr id="3" name="TextBox 2">
            <a:extLst>
              <a:ext uri="{FF2B5EF4-FFF2-40B4-BE49-F238E27FC236}">
                <a16:creationId xmlns:a16="http://schemas.microsoft.com/office/drawing/2014/main" id="{377157C2-6303-9922-BD0B-5568E48DE967}"/>
              </a:ext>
            </a:extLst>
          </p:cNvPr>
          <p:cNvSpPr txBox="1"/>
          <p:nvPr/>
        </p:nvSpPr>
        <p:spPr>
          <a:xfrm>
            <a:off x="845910" y="2803469"/>
            <a:ext cx="671994" cy="276999"/>
          </a:xfrm>
          <a:prstGeom prst="rect">
            <a:avLst/>
          </a:prstGeom>
          <a:noFill/>
        </p:spPr>
        <p:txBody>
          <a:bodyPr wrap="square" rtlCol="0">
            <a:spAutoFit/>
          </a:bodyPr>
          <a:lstStyle/>
          <a:p>
            <a:r>
              <a:rPr lang="en-US" sz="1200" dirty="0"/>
              <a:t>Layer 1</a:t>
            </a:r>
          </a:p>
        </p:txBody>
      </p:sp>
      <p:sp>
        <p:nvSpPr>
          <p:cNvPr id="4" name="TextBox 3">
            <a:extLst>
              <a:ext uri="{FF2B5EF4-FFF2-40B4-BE49-F238E27FC236}">
                <a16:creationId xmlns:a16="http://schemas.microsoft.com/office/drawing/2014/main" id="{1AEE42C0-762E-670D-E14B-71EBA969A78B}"/>
              </a:ext>
            </a:extLst>
          </p:cNvPr>
          <p:cNvSpPr txBox="1"/>
          <p:nvPr/>
        </p:nvSpPr>
        <p:spPr>
          <a:xfrm>
            <a:off x="836766" y="3080468"/>
            <a:ext cx="944958" cy="338554"/>
          </a:xfrm>
          <a:prstGeom prst="rect">
            <a:avLst/>
          </a:prstGeom>
          <a:noFill/>
        </p:spPr>
        <p:txBody>
          <a:bodyPr wrap="square" rtlCol="0">
            <a:spAutoFit/>
          </a:bodyPr>
          <a:lstStyle/>
          <a:p>
            <a:r>
              <a:rPr lang="en-US" sz="800" dirty="0"/>
              <a:t>Layer Name – Plan over Plan</a:t>
            </a:r>
          </a:p>
        </p:txBody>
      </p:sp>
      <p:sp>
        <p:nvSpPr>
          <p:cNvPr id="19" name="TextBox 18">
            <a:extLst>
              <a:ext uri="{FF2B5EF4-FFF2-40B4-BE49-F238E27FC236}">
                <a16:creationId xmlns:a16="http://schemas.microsoft.com/office/drawing/2014/main" id="{441109DF-D6F2-B795-3E25-EF0FBF3D1117}"/>
              </a:ext>
            </a:extLst>
          </p:cNvPr>
          <p:cNvSpPr txBox="1"/>
          <p:nvPr/>
        </p:nvSpPr>
        <p:spPr>
          <a:xfrm>
            <a:off x="2256091" y="3034846"/>
            <a:ext cx="2462212" cy="261610"/>
          </a:xfrm>
          <a:prstGeom prst="rect">
            <a:avLst/>
          </a:prstGeom>
          <a:noFill/>
        </p:spPr>
        <p:txBody>
          <a:bodyPr wrap="square">
            <a:spAutoFit/>
          </a:bodyPr>
          <a:lstStyle/>
          <a:p>
            <a:r>
              <a:rPr lang="en-US" sz="1100" b="1" dirty="0"/>
              <a:t>Plan comparison with variance %</a:t>
            </a:r>
          </a:p>
        </p:txBody>
      </p:sp>
      <p:sp>
        <p:nvSpPr>
          <p:cNvPr id="21" name="TextBox 20">
            <a:extLst>
              <a:ext uri="{FF2B5EF4-FFF2-40B4-BE49-F238E27FC236}">
                <a16:creationId xmlns:a16="http://schemas.microsoft.com/office/drawing/2014/main" id="{DE7FB37A-14DE-0A8D-2A51-9B813E9E2BCC}"/>
              </a:ext>
            </a:extLst>
          </p:cNvPr>
          <p:cNvSpPr txBox="1"/>
          <p:nvPr/>
        </p:nvSpPr>
        <p:spPr>
          <a:xfrm>
            <a:off x="2644734" y="2803468"/>
            <a:ext cx="921426" cy="276999"/>
          </a:xfrm>
          <a:prstGeom prst="rect">
            <a:avLst/>
          </a:prstGeom>
          <a:noFill/>
        </p:spPr>
        <p:txBody>
          <a:bodyPr wrap="square" rtlCol="0">
            <a:spAutoFit/>
          </a:bodyPr>
          <a:lstStyle/>
          <a:p>
            <a:r>
              <a:rPr lang="en-US" sz="1200" dirty="0"/>
              <a:t>Visual  1</a:t>
            </a:r>
          </a:p>
        </p:txBody>
      </p:sp>
      <p:sp>
        <p:nvSpPr>
          <p:cNvPr id="22" name="TextBox 21">
            <a:extLst>
              <a:ext uri="{FF2B5EF4-FFF2-40B4-BE49-F238E27FC236}">
                <a16:creationId xmlns:a16="http://schemas.microsoft.com/office/drawing/2014/main" id="{A2280C82-7B21-17BA-2C4D-95C413723EC0}"/>
              </a:ext>
            </a:extLst>
          </p:cNvPr>
          <p:cNvSpPr txBox="1"/>
          <p:nvPr/>
        </p:nvSpPr>
        <p:spPr>
          <a:xfrm>
            <a:off x="2256090" y="3318417"/>
            <a:ext cx="2462213" cy="1785104"/>
          </a:xfrm>
          <a:prstGeom prst="rect">
            <a:avLst/>
          </a:prstGeom>
          <a:noFill/>
        </p:spPr>
        <p:txBody>
          <a:bodyPr wrap="square">
            <a:spAutoFit/>
          </a:bodyPr>
          <a:lstStyle/>
          <a:p>
            <a:r>
              <a:rPr lang="en-US" sz="1100" dirty="0"/>
              <a:t>How the visual should look?</a:t>
            </a:r>
            <a:br>
              <a:rPr lang="en-US" sz="1100" dirty="0"/>
            </a:br>
            <a:r>
              <a:rPr lang="en-US" sz="1100" dirty="0"/>
              <a:t>Column chart with Plan 1 and Plan 2 in columns and variance % in line based on Fiscal Year, </a:t>
            </a:r>
            <a:r>
              <a:rPr lang="en-US" sz="1100" dirty="0" err="1"/>
              <a:t>quarter,month,week</a:t>
            </a:r>
            <a:r>
              <a:rPr lang="en-US" sz="1100" dirty="0"/>
              <a:t> and should change according to the filters above. On the top right of the graph there should be 2 dropdown to select two different plans.</a:t>
            </a:r>
          </a:p>
          <a:p>
            <a:endParaRPr lang="en-US" sz="1100" dirty="0"/>
          </a:p>
        </p:txBody>
      </p:sp>
      <p:sp>
        <p:nvSpPr>
          <p:cNvPr id="24" name="TextBox 23">
            <a:extLst>
              <a:ext uri="{FF2B5EF4-FFF2-40B4-BE49-F238E27FC236}">
                <a16:creationId xmlns:a16="http://schemas.microsoft.com/office/drawing/2014/main" id="{6E49619A-BE60-D9F4-CFBE-AC2E31C0B83C}"/>
              </a:ext>
            </a:extLst>
          </p:cNvPr>
          <p:cNvSpPr txBox="1"/>
          <p:nvPr/>
        </p:nvSpPr>
        <p:spPr>
          <a:xfrm>
            <a:off x="5784028" y="2770899"/>
            <a:ext cx="671994" cy="246221"/>
          </a:xfrm>
          <a:prstGeom prst="rect">
            <a:avLst/>
          </a:prstGeom>
          <a:noFill/>
        </p:spPr>
        <p:txBody>
          <a:bodyPr wrap="square">
            <a:spAutoFit/>
          </a:bodyPr>
          <a:lstStyle/>
          <a:p>
            <a:r>
              <a:rPr lang="en-US" sz="1000" dirty="0"/>
              <a:t>Visual 2</a:t>
            </a:r>
          </a:p>
        </p:txBody>
      </p:sp>
      <p:sp>
        <p:nvSpPr>
          <p:cNvPr id="25" name="TextBox 24">
            <a:extLst>
              <a:ext uri="{FF2B5EF4-FFF2-40B4-BE49-F238E27FC236}">
                <a16:creationId xmlns:a16="http://schemas.microsoft.com/office/drawing/2014/main" id="{297120AB-2F3D-27B3-8731-C4757AB66C4B}"/>
              </a:ext>
            </a:extLst>
          </p:cNvPr>
          <p:cNvSpPr txBox="1"/>
          <p:nvPr/>
        </p:nvSpPr>
        <p:spPr>
          <a:xfrm>
            <a:off x="5011486" y="3318417"/>
            <a:ext cx="2462213" cy="3647152"/>
          </a:xfrm>
          <a:prstGeom prst="rect">
            <a:avLst/>
          </a:prstGeom>
          <a:noFill/>
        </p:spPr>
        <p:txBody>
          <a:bodyPr wrap="square">
            <a:spAutoFit/>
          </a:bodyPr>
          <a:lstStyle/>
          <a:p>
            <a:r>
              <a:rPr lang="en-US" sz="1100" dirty="0"/>
              <a:t>How the visual should look?</a:t>
            </a:r>
            <a:br>
              <a:rPr lang="en-US" sz="1100" dirty="0"/>
            </a:br>
            <a:r>
              <a:rPr lang="en-US" sz="1100" dirty="0"/>
              <a:t>Column chart with Plan 1 and Plan 2 in columns with region like </a:t>
            </a:r>
            <a:r>
              <a:rPr lang="en-US" sz="1100" dirty="0" err="1"/>
              <a:t>EMEA,AMER,Global,APJ</a:t>
            </a:r>
            <a:r>
              <a:rPr lang="en-US" sz="1100" dirty="0"/>
              <a:t> on x axis as default  and variance % in line based on Fiscal Year, </a:t>
            </a:r>
            <a:r>
              <a:rPr lang="en-US" sz="1100" dirty="0" err="1"/>
              <a:t>quarter,month,week</a:t>
            </a:r>
            <a:r>
              <a:rPr lang="en-US" sz="1100" dirty="0"/>
              <a:t>(restrict only for  FY25,FY26,FY27 similarly for fiscal quarter and week and should change according to the filters </a:t>
            </a:r>
            <a:r>
              <a:rPr lang="en-US" sz="1100" dirty="0" err="1"/>
              <a:t>above.A</a:t>
            </a:r>
            <a:r>
              <a:rPr lang="en-US" sz="1100" dirty="0"/>
              <a:t> toggle on the top right corner with region and country so when a user clicks on the country it should appear country wise plan over plan </a:t>
            </a:r>
            <a:r>
              <a:rPr lang="en-US" sz="1100" dirty="0" err="1"/>
              <a:t>comparison.Also</a:t>
            </a:r>
            <a:r>
              <a:rPr lang="en-US" sz="1100" dirty="0"/>
              <a:t> if the user clicks on particular region then all the countries under that region should show up as a drill down. On the top right of the graph there should be 2 dropdown to select two different plans.</a:t>
            </a:r>
          </a:p>
          <a:p>
            <a:endParaRPr lang="en-US" sz="1100" dirty="0"/>
          </a:p>
        </p:txBody>
      </p:sp>
      <p:sp>
        <p:nvSpPr>
          <p:cNvPr id="26" name="TextBox 25">
            <a:extLst>
              <a:ext uri="{FF2B5EF4-FFF2-40B4-BE49-F238E27FC236}">
                <a16:creationId xmlns:a16="http://schemas.microsoft.com/office/drawing/2014/main" id="{78018147-267E-375F-5326-5C74228E5AD1}"/>
              </a:ext>
            </a:extLst>
          </p:cNvPr>
          <p:cNvSpPr txBox="1"/>
          <p:nvPr/>
        </p:nvSpPr>
        <p:spPr>
          <a:xfrm>
            <a:off x="4940662" y="3034846"/>
            <a:ext cx="3179210" cy="261610"/>
          </a:xfrm>
          <a:prstGeom prst="rect">
            <a:avLst/>
          </a:prstGeom>
          <a:noFill/>
        </p:spPr>
        <p:txBody>
          <a:bodyPr wrap="square">
            <a:spAutoFit/>
          </a:bodyPr>
          <a:lstStyle/>
          <a:p>
            <a:r>
              <a:rPr lang="en-US" sz="1100" b="1" dirty="0"/>
              <a:t>Region wise Plan comparison with variance %</a:t>
            </a:r>
          </a:p>
        </p:txBody>
      </p:sp>
      <p:sp>
        <p:nvSpPr>
          <p:cNvPr id="27" name="TextBox 26">
            <a:extLst>
              <a:ext uri="{FF2B5EF4-FFF2-40B4-BE49-F238E27FC236}">
                <a16:creationId xmlns:a16="http://schemas.microsoft.com/office/drawing/2014/main" id="{94880697-5DBD-E756-4215-2A2E20AB6024}"/>
              </a:ext>
            </a:extLst>
          </p:cNvPr>
          <p:cNvSpPr txBox="1"/>
          <p:nvPr/>
        </p:nvSpPr>
        <p:spPr>
          <a:xfrm>
            <a:off x="8716220" y="3030880"/>
            <a:ext cx="2228233" cy="261610"/>
          </a:xfrm>
          <a:prstGeom prst="rect">
            <a:avLst/>
          </a:prstGeom>
          <a:noFill/>
        </p:spPr>
        <p:txBody>
          <a:bodyPr wrap="square">
            <a:spAutoFit/>
          </a:bodyPr>
          <a:lstStyle/>
          <a:p>
            <a:r>
              <a:rPr lang="en-US" sz="1100" b="1" dirty="0"/>
              <a:t>CQN’s with highest variance %</a:t>
            </a:r>
          </a:p>
        </p:txBody>
      </p:sp>
      <p:sp>
        <p:nvSpPr>
          <p:cNvPr id="28" name="TextBox 27">
            <a:extLst>
              <a:ext uri="{FF2B5EF4-FFF2-40B4-BE49-F238E27FC236}">
                <a16:creationId xmlns:a16="http://schemas.microsoft.com/office/drawing/2014/main" id="{69127CB3-189D-0284-BC43-3DC3BE2088CA}"/>
              </a:ext>
            </a:extLst>
          </p:cNvPr>
          <p:cNvSpPr txBox="1"/>
          <p:nvPr/>
        </p:nvSpPr>
        <p:spPr>
          <a:xfrm>
            <a:off x="9494339" y="2784659"/>
            <a:ext cx="671994" cy="246221"/>
          </a:xfrm>
          <a:prstGeom prst="rect">
            <a:avLst/>
          </a:prstGeom>
          <a:noFill/>
        </p:spPr>
        <p:txBody>
          <a:bodyPr wrap="square">
            <a:spAutoFit/>
          </a:bodyPr>
          <a:lstStyle/>
          <a:p>
            <a:r>
              <a:rPr lang="en-US" sz="1000" dirty="0"/>
              <a:t>Visual 3</a:t>
            </a:r>
          </a:p>
        </p:txBody>
      </p:sp>
      <p:sp>
        <p:nvSpPr>
          <p:cNvPr id="29" name="TextBox 28">
            <a:extLst>
              <a:ext uri="{FF2B5EF4-FFF2-40B4-BE49-F238E27FC236}">
                <a16:creationId xmlns:a16="http://schemas.microsoft.com/office/drawing/2014/main" id="{CC8A5204-12BD-E492-2939-96DF84B27FA2}"/>
              </a:ext>
            </a:extLst>
          </p:cNvPr>
          <p:cNvSpPr txBox="1"/>
          <p:nvPr/>
        </p:nvSpPr>
        <p:spPr>
          <a:xfrm>
            <a:off x="8704802" y="3292490"/>
            <a:ext cx="2462213" cy="1785104"/>
          </a:xfrm>
          <a:prstGeom prst="rect">
            <a:avLst/>
          </a:prstGeom>
          <a:noFill/>
        </p:spPr>
        <p:txBody>
          <a:bodyPr wrap="square">
            <a:spAutoFit/>
          </a:bodyPr>
          <a:lstStyle/>
          <a:p>
            <a:r>
              <a:rPr lang="en-US" sz="1100" dirty="0"/>
              <a:t>How the visual should look?</a:t>
            </a:r>
            <a:br>
              <a:rPr lang="en-US" sz="1100" dirty="0"/>
            </a:br>
            <a:r>
              <a:rPr lang="en-US" sz="1100" dirty="0"/>
              <a:t>Column chart with Plan 1 and Plan 2 in columns with CQN name on x-axis and variance % in line based on Fiscal Year, </a:t>
            </a:r>
            <a:r>
              <a:rPr lang="en-US" sz="1100" dirty="0" err="1"/>
              <a:t>quarter,month,week</a:t>
            </a:r>
            <a:r>
              <a:rPr lang="en-US" sz="1100" dirty="0"/>
              <a:t> and should change according to the filters above. On the top right of the graph there should be 2 dropdown to select two different plans.</a:t>
            </a:r>
          </a:p>
          <a:p>
            <a:endParaRPr lang="en-US" sz="1100" dirty="0"/>
          </a:p>
        </p:txBody>
      </p:sp>
    </p:spTree>
    <p:extLst>
      <p:ext uri="{BB962C8B-B14F-4D97-AF65-F5344CB8AC3E}">
        <p14:creationId xmlns:p14="http://schemas.microsoft.com/office/powerpoint/2010/main" val="2019532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BCD44-B49A-550A-3E14-C3364DE80533}"/>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A96B388D-C4A1-FF35-CF0C-27D6ACEB3C6F}"/>
              </a:ext>
            </a:extLst>
          </p:cNvPr>
          <p:cNvSpPr txBox="1"/>
          <p:nvPr/>
        </p:nvSpPr>
        <p:spPr>
          <a:xfrm>
            <a:off x="0" y="252293"/>
            <a:ext cx="671994" cy="276999"/>
          </a:xfrm>
          <a:prstGeom prst="rect">
            <a:avLst/>
          </a:prstGeom>
          <a:noFill/>
        </p:spPr>
        <p:txBody>
          <a:bodyPr wrap="square" rtlCol="0">
            <a:spAutoFit/>
          </a:bodyPr>
          <a:lstStyle/>
          <a:p>
            <a:r>
              <a:rPr lang="en-US" sz="1200" dirty="0"/>
              <a:t>Graphs</a:t>
            </a:r>
          </a:p>
        </p:txBody>
      </p:sp>
      <p:sp>
        <p:nvSpPr>
          <p:cNvPr id="3" name="TextBox 2">
            <a:extLst>
              <a:ext uri="{FF2B5EF4-FFF2-40B4-BE49-F238E27FC236}">
                <a16:creationId xmlns:a16="http://schemas.microsoft.com/office/drawing/2014/main" id="{25CE5817-F83C-1263-A959-35ECD5DA7C3E}"/>
              </a:ext>
            </a:extLst>
          </p:cNvPr>
          <p:cNvSpPr txBox="1"/>
          <p:nvPr/>
        </p:nvSpPr>
        <p:spPr>
          <a:xfrm>
            <a:off x="845910" y="133421"/>
            <a:ext cx="671994" cy="276999"/>
          </a:xfrm>
          <a:prstGeom prst="rect">
            <a:avLst/>
          </a:prstGeom>
          <a:noFill/>
        </p:spPr>
        <p:txBody>
          <a:bodyPr wrap="square" rtlCol="0">
            <a:spAutoFit/>
          </a:bodyPr>
          <a:lstStyle/>
          <a:p>
            <a:r>
              <a:rPr lang="en-US" sz="1200" dirty="0"/>
              <a:t>Layer 2</a:t>
            </a:r>
          </a:p>
        </p:txBody>
      </p:sp>
      <p:sp>
        <p:nvSpPr>
          <p:cNvPr id="4" name="TextBox 3">
            <a:extLst>
              <a:ext uri="{FF2B5EF4-FFF2-40B4-BE49-F238E27FC236}">
                <a16:creationId xmlns:a16="http://schemas.microsoft.com/office/drawing/2014/main" id="{35B63954-9B93-8DD2-2B31-42C723961F95}"/>
              </a:ext>
            </a:extLst>
          </p:cNvPr>
          <p:cNvSpPr txBox="1"/>
          <p:nvPr/>
        </p:nvSpPr>
        <p:spPr>
          <a:xfrm>
            <a:off x="836766" y="410420"/>
            <a:ext cx="944958" cy="338554"/>
          </a:xfrm>
          <a:prstGeom prst="rect">
            <a:avLst/>
          </a:prstGeom>
          <a:noFill/>
        </p:spPr>
        <p:txBody>
          <a:bodyPr wrap="square" rtlCol="0">
            <a:spAutoFit/>
          </a:bodyPr>
          <a:lstStyle/>
          <a:p>
            <a:r>
              <a:rPr lang="en-US" sz="800" dirty="0"/>
              <a:t>Layer Name – Actual vs Plan</a:t>
            </a:r>
          </a:p>
        </p:txBody>
      </p:sp>
      <p:sp>
        <p:nvSpPr>
          <p:cNvPr id="19" name="TextBox 18">
            <a:extLst>
              <a:ext uri="{FF2B5EF4-FFF2-40B4-BE49-F238E27FC236}">
                <a16:creationId xmlns:a16="http://schemas.microsoft.com/office/drawing/2014/main" id="{356DC32E-C8B3-5827-31CD-738FEF86FB7A}"/>
              </a:ext>
            </a:extLst>
          </p:cNvPr>
          <p:cNvSpPr txBox="1"/>
          <p:nvPr/>
        </p:nvSpPr>
        <p:spPr>
          <a:xfrm>
            <a:off x="1885747" y="370626"/>
            <a:ext cx="3202897" cy="261610"/>
          </a:xfrm>
          <a:prstGeom prst="rect">
            <a:avLst/>
          </a:prstGeom>
          <a:noFill/>
        </p:spPr>
        <p:txBody>
          <a:bodyPr wrap="square">
            <a:spAutoFit/>
          </a:bodyPr>
          <a:lstStyle/>
          <a:p>
            <a:r>
              <a:rPr lang="en-US" sz="1100" b="1" dirty="0"/>
              <a:t>Actual vs Plan comparison with adherence %</a:t>
            </a:r>
          </a:p>
        </p:txBody>
      </p:sp>
      <p:sp>
        <p:nvSpPr>
          <p:cNvPr id="21" name="TextBox 20">
            <a:extLst>
              <a:ext uri="{FF2B5EF4-FFF2-40B4-BE49-F238E27FC236}">
                <a16:creationId xmlns:a16="http://schemas.microsoft.com/office/drawing/2014/main" id="{407FCB87-A4FD-0F04-D307-B8046008EA2D}"/>
              </a:ext>
            </a:extLst>
          </p:cNvPr>
          <p:cNvSpPr txBox="1"/>
          <p:nvPr/>
        </p:nvSpPr>
        <p:spPr>
          <a:xfrm>
            <a:off x="2644734" y="133420"/>
            <a:ext cx="921426" cy="276999"/>
          </a:xfrm>
          <a:prstGeom prst="rect">
            <a:avLst/>
          </a:prstGeom>
          <a:noFill/>
        </p:spPr>
        <p:txBody>
          <a:bodyPr wrap="square" rtlCol="0">
            <a:spAutoFit/>
          </a:bodyPr>
          <a:lstStyle/>
          <a:p>
            <a:r>
              <a:rPr lang="en-US" sz="1200" dirty="0"/>
              <a:t>Visual  1</a:t>
            </a:r>
          </a:p>
        </p:txBody>
      </p:sp>
      <p:sp>
        <p:nvSpPr>
          <p:cNvPr id="22" name="TextBox 21">
            <a:extLst>
              <a:ext uri="{FF2B5EF4-FFF2-40B4-BE49-F238E27FC236}">
                <a16:creationId xmlns:a16="http://schemas.microsoft.com/office/drawing/2014/main" id="{95779798-5FAD-53E7-AD41-E2CFBD21E374}"/>
              </a:ext>
            </a:extLst>
          </p:cNvPr>
          <p:cNvSpPr txBox="1"/>
          <p:nvPr/>
        </p:nvSpPr>
        <p:spPr>
          <a:xfrm>
            <a:off x="2256090" y="648369"/>
            <a:ext cx="2462213" cy="1785104"/>
          </a:xfrm>
          <a:prstGeom prst="rect">
            <a:avLst/>
          </a:prstGeom>
          <a:noFill/>
        </p:spPr>
        <p:txBody>
          <a:bodyPr wrap="square">
            <a:spAutoFit/>
          </a:bodyPr>
          <a:lstStyle/>
          <a:p>
            <a:r>
              <a:rPr lang="en-US" sz="1100" dirty="0"/>
              <a:t>How the visual should look?</a:t>
            </a:r>
            <a:br>
              <a:rPr lang="en-US" sz="1100" dirty="0"/>
            </a:br>
            <a:r>
              <a:rPr lang="en-US" sz="1100" dirty="0"/>
              <a:t>Column chart with actuals and Plan  in columns and adherence  % in line based on Fiscal Year, </a:t>
            </a:r>
            <a:r>
              <a:rPr lang="en-US" sz="1100" dirty="0" err="1"/>
              <a:t>quarter,month,week</a:t>
            </a:r>
            <a:r>
              <a:rPr lang="en-US" sz="1100" dirty="0"/>
              <a:t> and should change according to the filters above.</a:t>
            </a:r>
          </a:p>
          <a:p>
            <a:r>
              <a:rPr lang="en-US" sz="1100" dirty="0"/>
              <a:t>On the top right of the graph there should be 1 dropdown to select the plans.</a:t>
            </a:r>
          </a:p>
          <a:p>
            <a:endParaRPr lang="en-US" sz="1100" dirty="0"/>
          </a:p>
        </p:txBody>
      </p:sp>
      <p:sp>
        <p:nvSpPr>
          <p:cNvPr id="24" name="TextBox 23">
            <a:extLst>
              <a:ext uri="{FF2B5EF4-FFF2-40B4-BE49-F238E27FC236}">
                <a16:creationId xmlns:a16="http://schemas.microsoft.com/office/drawing/2014/main" id="{D180787B-EF2D-A83D-B5BE-2C4F2A24E416}"/>
              </a:ext>
            </a:extLst>
          </p:cNvPr>
          <p:cNvSpPr txBox="1"/>
          <p:nvPr/>
        </p:nvSpPr>
        <p:spPr>
          <a:xfrm>
            <a:off x="5784028" y="100851"/>
            <a:ext cx="671994" cy="246221"/>
          </a:xfrm>
          <a:prstGeom prst="rect">
            <a:avLst/>
          </a:prstGeom>
          <a:noFill/>
        </p:spPr>
        <p:txBody>
          <a:bodyPr wrap="square">
            <a:spAutoFit/>
          </a:bodyPr>
          <a:lstStyle/>
          <a:p>
            <a:r>
              <a:rPr lang="en-US" sz="1000" dirty="0"/>
              <a:t>Visual 2</a:t>
            </a:r>
          </a:p>
        </p:txBody>
      </p:sp>
      <p:sp>
        <p:nvSpPr>
          <p:cNvPr id="25" name="TextBox 24">
            <a:extLst>
              <a:ext uri="{FF2B5EF4-FFF2-40B4-BE49-F238E27FC236}">
                <a16:creationId xmlns:a16="http://schemas.microsoft.com/office/drawing/2014/main" id="{47203641-BCD5-7F71-DA58-F4A3E3B620F2}"/>
              </a:ext>
            </a:extLst>
          </p:cNvPr>
          <p:cNvSpPr txBox="1"/>
          <p:nvPr/>
        </p:nvSpPr>
        <p:spPr>
          <a:xfrm>
            <a:off x="5011486" y="648369"/>
            <a:ext cx="3602162" cy="938719"/>
          </a:xfrm>
          <a:prstGeom prst="rect">
            <a:avLst/>
          </a:prstGeom>
          <a:noFill/>
        </p:spPr>
        <p:txBody>
          <a:bodyPr wrap="square">
            <a:spAutoFit/>
          </a:bodyPr>
          <a:lstStyle/>
          <a:p>
            <a:r>
              <a:rPr lang="en-US" sz="1100" dirty="0"/>
              <a:t>How the visual should look? – Exactly like this below show it at fiscal year default On the top right of the graph there should be 1 dropdown to select the plans.</a:t>
            </a:r>
          </a:p>
          <a:p>
            <a:br>
              <a:rPr lang="en-US" sz="1100" dirty="0"/>
            </a:br>
            <a:endParaRPr lang="en-US" sz="1100" dirty="0"/>
          </a:p>
        </p:txBody>
      </p:sp>
      <p:sp>
        <p:nvSpPr>
          <p:cNvPr id="26" name="TextBox 25">
            <a:extLst>
              <a:ext uri="{FF2B5EF4-FFF2-40B4-BE49-F238E27FC236}">
                <a16:creationId xmlns:a16="http://schemas.microsoft.com/office/drawing/2014/main" id="{3362A14D-897C-C519-BBF1-04E55A27DC0F}"/>
              </a:ext>
            </a:extLst>
          </p:cNvPr>
          <p:cNvSpPr txBox="1"/>
          <p:nvPr/>
        </p:nvSpPr>
        <p:spPr>
          <a:xfrm>
            <a:off x="4940662" y="364798"/>
            <a:ext cx="3179210" cy="261610"/>
          </a:xfrm>
          <a:prstGeom prst="rect">
            <a:avLst/>
          </a:prstGeom>
          <a:noFill/>
        </p:spPr>
        <p:txBody>
          <a:bodyPr wrap="square">
            <a:spAutoFit/>
          </a:bodyPr>
          <a:lstStyle/>
          <a:p>
            <a:r>
              <a:rPr lang="en-US" sz="1100" b="1" dirty="0"/>
              <a:t>Region wise Plan comparison with variance %</a:t>
            </a:r>
          </a:p>
        </p:txBody>
      </p:sp>
      <p:sp>
        <p:nvSpPr>
          <p:cNvPr id="27" name="TextBox 26">
            <a:extLst>
              <a:ext uri="{FF2B5EF4-FFF2-40B4-BE49-F238E27FC236}">
                <a16:creationId xmlns:a16="http://schemas.microsoft.com/office/drawing/2014/main" id="{28E22E6B-93D6-F668-ACAE-CBFE7FF37120}"/>
              </a:ext>
            </a:extLst>
          </p:cNvPr>
          <p:cNvSpPr txBox="1"/>
          <p:nvPr/>
        </p:nvSpPr>
        <p:spPr>
          <a:xfrm>
            <a:off x="8716220" y="360832"/>
            <a:ext cx="2228233" cy="261610"/>
          </a:xfrm>
          <a:prstGeom prst="rect">
            <a:avLst/>
          </a:prstGeom>
          <a:noFill/>
        </p:spPr>
        <p:txBody>
          <a:bodyPr wrap="square">
            <a:spAutoFit/>
          </a:bodyPr>
          <a:lstStyle/>
          <a:p>
            <a:r>
              <a:rPr lang="en-US" sz="1100" b="1" dirty="0"/>
              <a:t>CQN’s with highest variance %</a:t>
            </a:r>
          </a:p>
        </p:txBody>
      </p:sp>
      <p:sp>
        <p:nvSpPr>
          <p:cNvPr id="28" name="TextBox 27">
            <a:extLst>
              <a:ext uri="{FF2B5EF4-FFF2-40B4-BE49-F238E27FC236}">
                <a16:creationId xmlns:a16="http://schemas.microsoft.com/office/drawing/2014/main" id="{78209104-7CF6-13B2-82FF-CDDCE2477655}"/>
              </a:ext>
            </a:extLst>
          </p:cNvPr>
          <p:cNvSpPr txBox="1"/>
          <p:nvPr/>
        </p:nvSpPr>
        <p:spPr>
          <a:xfrm>
            <a:off x="9494339" y="114611"/>
            <a:ext cx="671994" cy="246221"/>
          </a:xfrm>
          <a:prstGeom prst="rect">
            <a:avLst/>
          </a:prstGeom>
          <a:noFill/>
        </p:spPr>
        <p:txBody>
          <a:bodyPr wrap="square">
            <a:spAutoFit/>
          </a:bodyPr>
          <a:lstStyle/>
          <a:p>
            <a:r>
              <a:rPr lang="en-US" sz="1000" dirty="0"/>
              <a:t>Visual 3</a:t>
            </a:r>
          </a:p>
        </p:txBody>
      </p:sp>
      <p:sp>
        <p:nvSpPr>
          <p:cNvPr id="29" name="TextBox 28">
            <a:extLst>
              <a:ext uri="{FF2B5EF4-FFF2-40B4-BE49-F238E27FC236}">
                <a16:creationId xmlns:a16="http://schemas.microsoft.com/office/drawing/2014/main" id="{C4F22A12-BF54-23C6-827E-EC32F4DF0E2D}"/>
              </a:ext>
            </a:extLst>
          </p:cNvPr>
          <p:cNvSpPr txBox="1"/>
          <p:nvPr/>
        </p:nvSpPr>
        <p:spPr>
          <a:xfrm>
            <a:off x="8704802" y="622442"/>
            <a:ext cx="2462213" cy="1277273"/>
          </a:xfrm>
          <a:prstGeom prst="rect">
            <a:avLst/>
          </a:prstGeom>
          <a:noFill/>
        </p:spPr>
        <p:txBody>
          <a:bodyPr wrap="square">
            <a:spAutoFit/>
          </a:bodyPr>
          <a:lstStyle/>
          <a:p>
            <a:r>
              <a:rPr lang="en-US" sz="1100" dirty="0"/>
              <a:t>How the visual should look?</a:t>
            </a:r>
            <a:br>
              <a:rPr lang="en-US" sz="1100" dirty="0"/>
            </a:br>
            <a:r>
              <a:rPr lang="en-US" sz="1100" dirty="0"/>
              <a:t>Column chart with Plan 1 and Plan 2 in columns with CQN name on x-axis and variance % in line based on Fiscal Year, </a:t>
            </a:r>
            <a:r>
              <a:rPr lang="en-US" sz="1100" dirty="0" err="1"/>
              <a:t>quarter,month,week</a:t>
            </a:r>
            <a:r>
              <a:rPr lang="en-US" sz="1100" dirty="0"/>
              <a:t> and should change according to the filters above.</a:t>
            </a:r>
          </a:p>
        </p:txBody>
      </p:sp>
      <p:sp>
        <p:nvSpPr>
          <p:cNvPr id="23" name="TextBox 22">
            <a:extLst>
              <a:ext uri="{FF2B5EF4-FFF2-40B4-BE49-F238E27FC236}">
                <a16:creationId xmlns:a16="http://schemas.microsoft.com/office/drawing/2014/main" id="{2E27C525-3FFF-97D7-C564-2325FF386551}"/>
              </a:ext>
            </a:extLst>
          </p:cNvPr>
          <p:cNvSpPr txBox="1"/>
          <p:nvPr/>
        </p:nvSpPr>
        <p:spPr>
          <a:xfrm>
            <a:off x="-91440" y="3297245"/>
            <a:ext cx="671994" cy="276999"/>
          </a:xfrm>
          <a:prstGeom prst="rect">
            <a:avLst/>
          </a:prstGeom>
          <a:noFill/>
        </p:spPr>
        <p:txBody>
          <a:bodyPr wrap="square" rtlCol="0">
            <a:spAutoFit/>
          </a:bodyPr>
          <a:lstStyle/>
          <a:p>
            <a:r>
              <a:rPr lang="en-US" sz="1200" dirty="0"/>
              <a:t>Graphs</a:t>
            </a:r>
          </a:p>
        </p:txBody>
      </p:sp>
      <p:sp>
        <p:nvSpPr>
          <p:cNvPr id="30" name="TextBox 29">
            <a:extLst>
              <a:ext uri="{FF2B5EF4-FFF2-40B4-BE49-F238E27FC236}">
                <a16:creationId xmlns:a16="http://schemas.microsoft.com/office/drawing/2014/main" id="{23C2E927-3230-1F84-C439-F39A73CCEC87}"/>
              </a:ext>
            </a:extLst>
          </p:cNvPr>
          <p:cNvSpPr txBox="1"/>
          <p:nvPr/>
        </p:nvSpPr>
        <p:spPr>
          <a:xfrm>
            <a:off x="855054" y="3297245"/>
            <a:ext cx="671994" cy="276999"/>
          </a:xfrm>
          <a:prstGeom prst="rect">
            <a:avLst/>
          </a:prstGeom>
          <a:noFill/>
        </p:spPr>
        <p:txBody>
          <a:bodyPr wrap="square" rtlCol="0">
            <a:spAutoFit/>
          </a:bodyPr>
          <a:lstStyle/>
          <a:p>
            <a:r>
              <a:rPr lang="en-US" sz="1200" dirty="0"/>
              <a:t>Layer 3</a:t>
            </a:r>
          </a:p>
        </p:txBody>
      </p:sp>
      <p:sp>
        <p:nvSpPr>
          <p:cNvPr id="31" name="TextBox 30">
            <a:extLst>
              <a:ext uri="{FF2B5EF4-FFF2-40B4-BE49-F238E27FC236}">
                <a16:creationId xmlns:a16="http://schemas.microsoft.com/office/drawing/2014/main" id="{EE8BFC99-BFC4-A13F-FA1C-82EBF02F8EAB}"/>
              </a:ext>
            </a:extLst>
          </p:cNvPr>
          <p:cNvSpPr txBox="1"/>
          <p:nvPr/>
        </p:nvSpPr>
        <p:spPr>
          <a:xfrm>
            <a:off x="718572" y="3635727"/>
            <a:ext cx="944958" cy="215444"/>
          </a:xfrm>
          <a:prstGeom prst="rect">
            <a:avLst/>
          </a:prstGeom>
          <a:noFill/>
        </p:spPr>
        <p:txBody>
          <a:bodyPr wrap="square" rtlCol="0">
            <a:spAutoFit/>
          </a:bodyPr>
          <a:lstStyle/>
          <a:p>
            <a:r>
              <a:rPr lang="en-US" sz="800" dirty="0"/>
              <a:t>Geo Map</a:t>
            </a:r>
          </a:p>
        </p:txBody>
      </p:sp>
      <p:pic>
        <p:nvPicPr>
          <p:cNvPr id="51" name="Picture 50">
            <a:extLst>
              <a:ext uri="{FF2B5EF4-FFF2-40B4-BE49-F238E27FC236}">
                <a16:creationId xmlns:a16="http://schemas.microsoft.com/office/drawing/2014/main" id="{2F329F02-E8DF-00F9-8382-2127777B5A42}"/>
              </a:ext>
            </a:extLst>
          </p:cNvPr>
          <p:cNvPicPr>
            <a:picLocks noChangeAspect="1"/>
          </p:cNvPicPr>
          <p:nvPr/>
        </p:nvPicPr>
        <p:blipFill>
          <a:blip r:embed="rId3"/>
          <a:stretch>
            <a:fillRect/>
          </a:stretch>
        </p:blipFill>
        <p:spPr>
          <a:xfrm>
            <a:off x="2411118" y="3574244"/>
            <a:ext cx="7208369" cy="2944287"/>
          </a:xfrm>
          <a:prstGeom prst="rect">
            <a:avLst/>
          </a:prstGeom>
        </p:spPr>
      </p:pic>
      <p:sp>
        <p:nvSpPr>
          <p:cNvPr id="2" name="TextBox 1">
            <a:extLst>
              <a:ext uri="{FF2B5EF4-FFF2-40B4-BE49-F238E27FC236}">
                <a16:creationId xmlns:a16="http://schemas.microsoft.com/office/drawing/2014/main" id="{5075412E-4919-D140-3AB9-BC42BD6592C7}"/>
              </a:ext>
            </a:extLst>
          </p:cNvPr>
          <p:cNvSpPr txBox="1"/>
          <p:nvPr/>
        </p:nvSpPr>
        <p:spPr>
          <a:xfrm>
            <a:off x="9619487" y="3574244"/>
            <a:ext cx="2462213" cy="1277273"/>
          </a:xfrm>
          <a:prstGeom prst="rect">
            <a:avLst/>
          </a:prstGeom>
          <a:noFill/>
        </p:spPr>
        <p:txBody>
          <a:bodyPr wrap="square">
            <a:spAutoFit/>
          </a:bodyPr>
          <a:lstStyle/>
          <a:p>
            <a:r>
              <a:rPr lang="en-US" sz="1100" dirty="0"/>
              <a:t>How the visual should look?</a:t>
            </a:r>
            <a:br>
              <a:rPr lang="en-US" sz="1100" dirty="0"/>
            </a:br>
            <a:r>
              <a:rPr lang="en-US" sz="1100" dirty="0"/>
              <a:t>Showing all the CQN,S across regions with color coding - high adherence - green color , low with red and so on.</a:t>
            </a:r>
            <a:br>
              <a:rPr lang="en-US" sz="1100" dirty="0"/>
            </a:br>
            <a:br>
              <a:rPr lang="en-US" sz="1100" dirty="0"/>
            </a:br>
            <a:r>
              <a:rPr lang="en-US" sz="1100" dirty="0"/>
              <a:t>It should have toggle as well between region and country</a:t>
            </a:r>
          </a:p>
        </p:txBody>
      </p:sp>
      <p:pic>
        <p:nvPicPr>
          <p:cNvPr id="7" name="Picture 6">
            <a:extLst>
              <a:ext uri="{FF2B5EF4-FFF2-40B4-BE49-F238E27FC236}">
                <a16:creationId xmlns:a16="http://schemas.microsoft.com/office/drawing/2014/main" id="{95BDF3DA-0FF9-85F7-4DB1-A7FA131D346F}"/>
              </a:ext>
            </a:extLst>
          </p:cNvPr>
          <p:cNvPicPr>
            <a:picLocks noChangeAspect="1"/>
          </p:cNvPicPr>
          <p:nvPr/>
        </p:nvPicPr>
        <p:blipFill>
          <a:blip r:embed="rId4"/>
          <a:stretch>
            <a:fillRect/>
          </a:stretch>
        </p:blipFill>
        <p:spPr>
          <a:xfrm>
            <a:off x="4967456" y="1261078"/>
            <a:ext cx="3488193" cy="2221836"/>
          </a:xfrm>
          <a:prstGeom prst="rect">
            <a:avLst/>
          </a:prstGeom>
        </p:spPr>
      </p:pic>
    </p:spTree>
    <p:extLst>
      <p:ext uri="{BB962C8B-B14F-4D97-AF65-F5344CB8AC3E}">
        <p14:creationId xmlns:p14="http://schemas.microsoft.com/office/powerpoint/2010/main" val="386886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F20A82-010F-466C-9A32-0F2FAB3A8FF1}"/>
              </a:ext>
            </a:extLst>
          </p:cNvPr>
          <p:cNvPicPr>
            <a:picLocks noChangeAspect="1"/>
          </p:cNvPicPr>
          <p:nvPr/>
        </p:nvPicPr>
        <p:blipFill>
          <a:blip r:embed="rId2"/>
          <a:stretch>
            <a:fillRect/>
          </a:stretch>
        </p:blipFill>
        <p:spPr>
          <a:xfrm>
            <a:off x="1581150" y="85342"/>
            <a:ext cx="10487024" cy="1348984"/>
          </a:xfrm>
          <a:prstGeom prst="rect">
            <a:avLst/>
          </a:prstGeom>
        </p:spPr>
      </p:pic>
      <p:sp>
        <p:nvSpPr>
          <p:cNvPr id="3" name="TextBox 2">
            <a:extLst>
              <a:ext uri="{FF2B5EF4-FFF2-40B4-BE49-F238E27FC236}">
                <a16:creationId xmlns:a16="http://schemas.microsoft.com/office/drawing/2014/main" id="{9549355E-C289-0083-D5AB-C446A3A14995}"/>
              </a:ext>
            </a:extLst>
          </p:cNvPr>
          <p:cNvSpPr txBox="1"/>
          <p:nvPr/>
        </p:nvSpPr>
        <p:spPr>
          <a:xfrm>
            <a:off x="342900" y="256032"/>
            <a:ext cx="671994" cy="276999"/>
          </a:xfrm>
          <a:prstGeom prst="rect">
            <a:avLst/>
          </a:prstGeom>
          <a:noFill/>
        </p:spPr>
        <p:txBody>
          <a:bodyPr wrap="square" rtlCol="0">
            <a:spAutoFit/>
          </a:bodyPr>
          <a:lstStyle/>
          <a:p>
            <a:r>
              <a:rPr lang="en-US" sz="1200" dirty="0"/>
              <a:t>Filters</a:t>
            </a:r>
          </a:p>
        </p:txBody>
      </p:sp>
      <p:sp>
        <p:nvSpPr>
          <p:cNvPr id="4" name="TextBox 3">
            <a:extLst>
              <a:ext uri="{FF2B5EF4-FFF2-40B4-BE49-F238E27FC236}">
                <a16:creationId xmlns:a16="http://schemas.microsoft.com/office/drawing/2014/main" id="{249C919C-7FF8-4964-F18A-910CCF59190D}"/>
              </a:ext>
            </a:extLst>
          </p:cNvPr>
          <p:cNvSpPr txBox="1"/>
          <p:nvPr/>
        </p:nvSpPr>
        <p:spPr>
          <a:xfrm>
            <a:off x="342900" y="1829943"/>
            <a:ext cx="671994" cy="276999"/>
          </a:xfrm>
          <a:prstGeom prst="rect">
            <a:avLst/>
          </a:prstGeom>
          <a:noFill/>
        </p:spPr>
        <p:txBody>
          <a:bodyPr wrap="square" rtlCol="0">
            <a:spAutoFit/>
          </a:bodyPr>
          <a:lstStyle/>
          <a:p>
            <a:r>
              <a:rPr lang="en-US" sz="1200" dirty="0"/>
              <a:t>Cards</a:t>
            </a:r>
          </a:p>
        </p:txBody>
      </p:sp>
      <p:sp>
        <p:nvSpPr>
          <p:cNvPr id="5" name="TextBox 11">
            <a:extLst>
              <a:ext uri="{FF2B5EF4-FFF2-40B4-BE49-F238E27FC236}">
                <a16:creationId xmlns:a16="http://schemas.microsoft.com/office/drawing/2014/main" id="{BE8FBBEF-1746-9BD7-5C9D-6E50ECB1613B}"/>
              </a:ext>
            </a:extLst>
          </p:cNvPr>
          <p:cNvSpPr txBox="1"/>
          <p:nvPr/>
        </p:nvSpPr>
        <p:spPr>
          <a:xfrm>
            <a:off x="1495424" y="1829943"/>
            <a:ext cx="1962151" cy="374077"/>
          </a:xfrm>
          <a:prstGeom prst="rect">
            <a:avLst/>
          </a:prstGeom>
          <a:noFill/>
          <a:ln>
            <a:solidFill>
              <a:schemeClr val="tx1"/>
            </a:solidFill>
          </a:ln>
        </p:spPr>
        <p:txBody>
          <a:bodyPr wrap="square" rtlCol="0">
            <a:sp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IN" dirty="0"/>
              <a:t>Staffing</a:t>
            </a:r>
            <a:r>
              <a:rPr lang="en-IN" baseline="0" dirty="0"/>
              <a:t> summary</a:t>
            </a:r>
            <a:endParaRPr lang="en-IN" dirty="0"/>
          </a:p>
        </p:txBody>
      </p:sp>
      <p:sp>
        <p:nvSpPr>
          <p:cNvPr id="7" name="TextBox 8">
            <a:extLst>
              <a:ext uri="{FF2B5EF4-FFF2-40B4-BE49-F238E27FC236}">
                <a16:creationId xmlns:a16="http://schemas.microsoft.com/office/drawing/2014/main" id="{97FD7A4F-2241-E0B8-6C79-99267B2D2B31}"/>
              </a:ext>
            </a:extLst>
          </p:cNvPr>
          <p:cNvSpPr txBox="1"/>
          <p:nvPr/>
        </p:nvSpPr>
        <p:spPr>
          <a:xfrm>
            <a:off x="3825492" y="1834688"/>
            <a:ext cx="1740666" cy="369332"/>
          </a:xfrm>
          <a:prstGeom prst="rect">
            <a:avLst/>
          </a:prstGeom>
          <a:noFill/>
          <a:ln>
            <a:solidFill>
              <a:schemeClr val="tx1"/>
            </a:solidFill>
          </a:ln>
        </p:spPr>
        <p:txBody>
          <a:bodyPr wrap="square" rtlCol="0">
            <a:sp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r>
              <a:rPr lang="en-IN" dirty="0"/>
              <a:t>Utilization %</a:t>
            </a:r>
          </a:p>
        </p:txBody>
      </p:sp>
      <p:sp>
        <p:nvSpPr>
          <p:cNvPr id="8" name="TextBox 2">
            <a:extLst>
              <a:ext uri="{FF2B5EF4-FFF2-40B4-BE49-F238E27FC236}">
                <a16:creationId xmlns:a16="http://schemas.microsoft.com/office/drawing/2014/main" id="{9E8EE717-A52C-EF7F-F39E-3F1C7C058161}"/>
              </a:ext>
            </a:extLst>
          </p:cNvPr>
          <p:cNvSpPr txBox="1"/>
          <p:nvPr/>
        </p:nvSpPr>
        <p:spPr>
          <a:xfrm>
            <a:off x="5934075" y="1834688"/>
            <a:ext cx="1145754" cy="369332"/>
          </a:xfrm>
          <a:prstGeom prst="rect">
            <a:avLst/>
          </a:prstGeom>
          <a:noFill/>
          <a:ln>
            <a:solidFill>
              <a:schemeClr val="tx1"/>
            </a:solidFill>
          </a:ln>
        </p:spPr>
        <p:txBody>
          <a:bodyPr wrap="square" rtlCol="0">
            <a:sp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lgn="ctr"/>
            <a:r>
              <a:rPr lang="en-IN" dirty="0"/>
              <a:t>SL %</a:t>
            </a:r>
          </a:p>
        </p:txBody>
      </p:sp>
      <p:sp>
        <p:nvSpPr>
          <p:cNvPr id="9" name="TextBox 2">
            <a:extLst>
              <a:ext uri="{FF2B5EF4-FFF2-40B4-BE49-F238E27FC236}">
                <a16:creationId xmlns:a16="http://schemas.microsoft.com/office/drawing/2014/main" id="{8997EDAD-A0ED-A388-374C-840613044A65}"/>
              </a:ext>
            </a:extLst>
          </p:cNvPr>
          <p:cNvSpPr txBox="1"/>
          <p:nvPr/>
        </p:nvSpPr>
        <p:spPr>
          <a:xfrm>
            <a:off x="7795218" y="1834688"/>
            <a:ext cx="1394502" cy="369332"/>
          </a:xfrm>
          <a:prstGeom prst="rect">
            <a:avLst/>
          </a:prstGeom>
          <a:noFill/>
          <a:ln>
            <a:solidFill>
              <a:schemeClr val="tx1"/>
            </a:solidFill>
          </a:ln>
        </p:spPr>
        <p:txBody>
          <a:bodyPr wrap="square" rtlCol="0">
            <a:sp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lgn="ctr"/>
            <a:r>
              <a:rPr lang="en-IN" dirty="0"/>
              <a:t>Total FTE </a:t>
            </a:r>
          </a:p>
        </p:txBody>
      </p:sp>
      <p:sp>
        <p:nvSpPr>
          <p:cNvPr id="10" name="TextBox 2">
            <a:extLst>
              <a:ext uri="{FF2B5EF4-FFF2-40B4-BE49-F238E27FC236}">
                <a16:creationId xmlns:a16="http://schemas.microsoft.com/office/drawing/2014/main" id="{FBD8D994-AB9C-A88B-D701-40269BF075DD}"/>
              </a:ext>
            </a:extLst>
          </p:cNvPr>
          <p:cNvSpPr txBox="1"/>
          <p:nvPr/>
        </p:nvSpPr>
        <p:spPr>
          <a:xfrm>
            <a:off x="10000106" y="1829943"/>
            <a:ext cx="1740665" cy="369332"/>
          </a:xfrm>
          <a:prstGeom prst="rect">
            <a:avLst/>
          </a:prstGeom>
          <a:noFill/>
          <a:ln>
            <a:solidFill>
              <a:schemeClr val="tx1"/>
            </a:solidFill>
          </a:ln>
        </p:spPr>
        <p:txBody>
          <a:bodyPr wrap="square" rtlCol="0">
            <a:spAutoFit/>
          </a:bodyPr>
          <a:lstStyle>
            <a:defPPr>
              <a:defRPr lang="en-US"/>
            </a:defPPr>
            <a:lvl1pPr marL="0" indent="0" algn="l" defTabSz="914400" rtl="0" eaLnBrk="1" latinLnBrk="0" hangingPunct="1">
              <a:defRPr sz="1800" kern="1200">
                <a:solidFill>
                  <a:schemeClr val="tx1"/>
                </a:solidFill>
                <a:latin typeface="+mn-lt"/>
                <a:ea typeface="+mn-ea"/>
                <a:cs typeface="+mn-cs"/>
              </a:defRPr>
            </a:lvl1pPr>
            <a:lvl2pPr marL="457200" indent="0" algn="l" defTabSz="914400" rtl="0" eaLnBrk="1" latinLnBrk="0" hangingPunct="1">
              <a:defRPr sz="1800" kern="1200">
                <a:solidFill>
                  <a:schemeClr val="tx1"/>
                </a:solidFill>
                <a:latin typeface="+mn-lt"/>
                <a:ea typeface="+mn-ea"/>
                <a:cs typeface="+mn-cs"/>
              </a:defRPr>
            </a:lvl2pPr>
            <a:lvl3pPr marL="914400" indent="0" algn="l" defTabSz="914400" rtl="0" eaLnBrk="1" latinLnBrk="0" hangingPunct="1">
              <a:defRPr sz="1800" kern="1200">
                <a:solidFill>
                  <a:schemeClr val="tx1"/>
                </a:solidFill>
                <a:latin typeface="+mn-lt"/>
                <a:ea typeface="+mn-ea"/>
                <a:cs typeface="+mn-cs"/>
              </a:defRPr>
            </a:lvl3pPr>
            <a:lvl4pPr marL="1371600" indent="0" algn="l" defTabSz="914400" rtl="0" eaLnBrk="1" latinLnBrk="0" hangingPunct="1">
              <a:defRPr sz="1800" kern="1200">
                <a:solidFill>
                  <a:schemeClr val="tx1"/>
                </a:solidFill>
                <a:latin typeface="+mn-lt"/>
                <a:ea typeface="+mn-ea"/>
                <a:cs typeface="+mn-cs"/>
              </a:defRPr>
            </a:lvl4pPr>
            <a:lvl5pPr marL="1828800" indent="0" algn="l" defTabSz="914400" rtl="0" eaLnBrk="1" latinLnBrk="0" hangingPunct="1">
              <a:defRPr sz="1800" kern="1200">
                <a:solidFill>
                  <a:schemeClr val="tx1"/>
                </a:solidFill>
                <a:latin typeface="+mn-lt"/>
                <a:ea typeface="+mn-ea"/>
                <a:cs typeface="+mn-cs"/>
              </a:defRPr>
            </a:lvl5pPr>
            <a:lvl6pPr marL="2286000" indent="0" algn="l" defTabSz="914400" rtl="0" eaLnBrk="1" latinLnBrk="0" hangingPunct="1">
              <a:defRPr sz="1800" kern="1200">
                <a:solidFill>
                  <a:schemeClr val="tx1"/>
                </a:solidFill>
                <a:latin typeface="+mn-lt"/>
                <a:ea typeface="+mn-ea"/>
                <a:cs typeface="+mn-cs"/>
              </a:defRPr>
            </a:lvl6pPr>
            <a:lvl7pPr marL="2743200" indent="0" algn="l" defTabSz="914400" rtl="0" eaLnBrk="1" latinLnBrk="0" hangingPunct="1">
              <a:defRPr sz="1800" kern="1200">
                <a:solidFill>
                  <a:schemeClr val="tx1"/>
                </a:solidFill>
                <a:latin typeface="+mn-lt"/>
                <a:ea typeface="+mn-ea"/>
                <a:cs typeface="+mn-cs"/>
              </a:defRPr>
            </a:lvl7pPr>
            <a:lvl8pPr marL="3200400" indent="0" algn="l" defTabSz="914400" rtl="0" eaLnBrk="1" latinLnBrk="0" hangingPunct="1">
              <a:defRPr sz="1800" kern="1200">
                <a:solidFill>
                  <a:schemeClr val="tx1"/>
                </a:solidFill>
                <a:latin typeface="+mn-lt"/>
                <a:ea typeface="+mn-ea"/>
                <a:cs typeface="+mn-cs"/>
              </a:defRPr>
            </a:lvl8pPr>
            <a:lvl9pPr marL="3657600" indent="0" algn="l" defTabSz="914400" rtl="0" eaLnBrk="1" latinLnBrk="0" hangingPunct="1">
              <a:defRPr sz="1800" kern="1200">
                <a:solidFill>
                  <a:schemeClr val="tx1"/>
                </a:solidFill>
                <a:latin typeface="+mn-lt"/>
                <a:ea typeface="+mn-ea"/>
                <a:cs typeface="+mn-cs"/>
              </a:defRPr>
            </a:lvl9pPr>
          </a:lstStyle>
          <a:p>
            <a:pPr algn="ctr"/>
            <a:r>
              <a:rPr lang="en-IN" dirty="0"/>
              <a:t>Attrition %</a:t>
            </a:r>
          </a:p>
        </p:txBody>
      </p:sp>
      <p:sp>
        <p:nvSpPr>
          <p:cNvPr id="11" name="TextBox 10">
            <a:extLst>
              <a:ext uri="{FF2B5EF4-FFF2-40B4-BE49-F238E27FC236}">
                <a16:creationId xmlns:a16="http://schemas.microsoft.com/office/drawing/2014/main" id="{341DCCF9-F642-DE5E-0B89-73DF91C8EE9F}"/>
              </a:ext>
            </a:extLst>
          </p:cNvPr>
          <p:cNvSpPr txBox="1"/>
          <p:nvPr/>
        </p:nvSpPr>
        <p:spPr>
          <a:xfrm>
            <a:off x="342900" y="2357247"/>
            <a:ext cx="1056132" cy="276999"/>
          </a:xfrm>
          <a:prstGeom prst="rect">
            <a:avLst/>
          </a:prstGeom>
          <a:noFill/>
        </p:spPr>
        <p:txBody>
          <a:bodyPr wrap="square" rtlCol="0">
            <a:spAutoFit/>
          </a:bodyPr>
          <a:lstStyle/>
          <a:p>
            <a:r>
              <a:rPr lang="en-US" sz="1200" dirty="0"/>
              <a:t>Default View</a:t>
            </a:r>
          </a:p>
        </p:txBody>
      </p:sp>
      <p:sp>
        <p:nvSpPr>
          <p:cNvPr id="12" name="TextBox 11">
            <a:extLst>
              <a:ext uri="{FF2B5EF4-FFF2-40B4-BE49-F238E27FC236}">
                <a16:creationId xmlns:a16="http://schemas.microsoft.com/office/drawing/2014/main" id="{268A0456-24E8-395E-C1F9-43FA6B016512}"/>
              </a:ext>
            </a:extLst>
          </p:cNvPr>
          <p:cNvSpPr txBox="1"/>
          <p:nvPr/>
        </p:nvSpPr>
        <p:spPr>
          <a:xfrm>
            <a:off x="1495424" y="2432304"/>
            <a:ext cx="2034160" cy="646331"/>
          </a:xfrm>
          <a:prstGeom prst="rect">
            <a:avLst/>
          </a:prstGeom>
          <a:noFill/>
        </p:spPr>
        <p:txBody>
          <a:bodyPr wrap="square" rtlCol="0">
            <a:spAutoFit/>
          </a:bodyPr>
          <a:lstStyle/>
          <a:p>
            <a:r>
              <a:rPr lang="en-US" sz="900" dirty="0"/>
              <a:t>It should show percentage –recommended % -94 and the card should change according to the filter panel above</a:t>
            </a:r>
          </a:p>
        </p:txBody>
      </p:sp>
      <p:sp>
        <p:nvSpPr>
          <p:cNvPr id="13" name="TextBox 12">
            <a:extLst>
              <a:ext uri="{FF2B5EF4-FFF2-40B4-BE49-F238E27FC236}">
                <a16:creationId xmlns:a16="http://schemas.microsoft.com/office/drawing/2014/main" id="{BE0A01B4-ACE8-E7DA-D83D-57953A00FFE0}"/>
              </a:ext>
            </a:extLst>
          </p:cNvPr>
          <p:cNvSpPr txBox="1"/>
          <p:nvPr/>
        </p:nvSpPr>
        <p:spPr>
          <a:xfrm>
            <a:off x="3750944" y="2432304"/>
            <a:ext cx="2034160" cy="923330"/>
          </a:xfrm>
          <a:prstGeom prst="rect">
            <a:avLst/>
          </a:prstGeom>
          <a:noFill/>
        </p:spPr>
        <p:txBody>
          <a:bodyPr wrap="square" rtlCol="0">
            <a:spAutoFit/>
          </a:bodyPr>
          <a:lstStyle/>
          <a:p>
            <a:r>
              <a:rPr lang="en-US" sz="900" dirty="0"/>
              <a:t>It should show actuals % - recommended -84% and target should be shown and accordingly up down arrow with red green if actuals&gt;target then green and vice versa</a:t>
            </a:r>
          </a:p>
        </p:txBody>
      </p:sp>
      <p:sp>
        <p:nvSpPr>
          <p:cNvPr id="14" name="TextBox 13">
            <a:extLst>
              <a:ext uri="{FF2B5EF4-FFF2-40B4-BE49-F238E27FC236}">
                <a16:creationId xmlns:a16="http://schemas.microsoft.com/office/drawing/2014/main" id="{87FA3DB6-9187-C719-4F7C-7A5EEC917B77}"/>
              </a:ext>
            </a:extLst>
          </p:cNvPr>
          <p:cNvSpPr txBox="1"/>
          <p:nvPr/>
        </p:nvSpPr>
        <p:spPr>
          <a:xfrm>
            <a:off x="5785104" y="2432304"/>
            <a:ext cx="1662642" cy="1061829"/>
          </a:xfrm>
          <a:prstGeom prst="rect">
            <a:avLst/>
          </a:prstGeom>
          <a:noFill/>
        </p:spPr>
        <p:txBody>
          <a:bodyPr wrap="square" rtlCol="0">
            <a:spAutoFit/>
          </a:bodyPr>
          <a:lstStyle/>
          <a:p>
            <a:r>
              <a:rPr lang="en-US" sz="900" dirty="0"/>
              <a:t>It should show actuals % - recommended -84% and target should be shown and accordingly up down arrow with red green if actuals&gt;target then green and vice versa</a:t>
            </a:r>
          </a:p>
        </p:txBody>
      </p:sp>
      <p:sp>
        <p:nvSpPr>
          <p:cNvPr id="15" name="TextBox 14">
            <a:extLst>
              <a:ext uri="{FF2B5EF4-FFF2-40B4-BE49-F238E27FC236}">
                <a16:creationId xmlns:a16="http://schemas.microsoft.com/office/drawing/2014/main" id="{8780A122-57AF-BDB5-C9AB-6F28FBDC8567}"/>
              </a:ext>
            </a:extLst>
          </p:cNvPr>
          <p:cNvSpPr txBox="1"/>
          <p:nvPr/>
        </p:nvSpPr>
        <p:spPr>
          <a:xfrm>
            <a:off x="7661148" y="2432303"/>
            <a:ext cx="1662642" cy="1061829"/>
          </a:xfrm>
          <a:prstGeom prst="rect">
            <a:avLst/>
          </a:prstGeom>
          <a:noFill/>
        </p:spPr>
        <p:txBody>
          <a:bodyPr wrap="square" rtlCol="0">
            <a:spAutoFit/>
          </a:bodyPr>
          <a:lstStyle/>
          <a:p>
            <a:r>
              <a:rPr lang="en-US" sz="900" dirty="0"/>
              <a:t>It should show actuals - recommended - 3400 and plan should be shown like 3500 and accordingly up down arrow with red green if actuals&gt;plan then red and vice versa</a:t>
            </a:r>
          </a:p>
        </p:txBody>
      </p:sp>
      <p:sp>
        <p:nvSpPr>
          <p:cNvPr id="16" name="TextBox 15">
            <a:extLst>
              <a:ext uri="{FF2B5EF4-FFF2-40B4-BE49-F238E27FC236}">
                <a16:creationId xmlns:a16="http://schemas.microsoft.com/office/drawing/2014/main" id="{27CF0897-CA95-568A-77F6-DD5503FE2472}"/>
              </a:ext>
            </a:extLst>
          </p:cNvPr>
          <p:cNvSpPr txBox="1"/>
          <p:nvPr/>
        </p:nvSpPr>
        <p:spPr>
          <a:xfrm>
            <a:off x="9984191" y="2409220"/>
            <a:ext cx="1662642" cy="1200329"/>
          </a:xfrm>
          <a:prstGeom prst="rect">
            <a:avLst/>
          </a:prstGeom>
          <a:noFill/>
        </p:spPr>
        <p:txBody>
          <a:bodyPr wrap="square" rtlCol="0">
            <a:spAutoFit/>
          </a:bodyPr>
          <a:lstStyle/>
          <a:p>
            <a:r>
              <a:rPr lang="en-US" sz="900" dirty="0"/>
              <a:t>It should show actuals % - recommended -10% and target should be shown for example – 8%  and accordingly up down arrow with red green if actuals&gt;target then red and vice versa</a:t>
            </a:r>
          </a:p>
        </p:txBody>
      </p:sp>
      <p:sp>
        <p:nvSpPr>
          <p:cNvPr id="6" name="TextBox 5">
            <a:extLst>
              <a:ext uri="{FF2B5EF4-FFF2-40B4-BE49-F238E27FC236}">
                <a16:creationId xmlns:a16="http://schemas.microsoft.com/office/drawing/2014/main" id="{2AC8F9B4-17BB-98E6-9C12-549D6E5A23EF}"/>
              </a:ext>
            </a:extLst>
          </p:cNvPr>
          <p:cNvSpPr txBox="1"/>
          <p:nvPr/>
        </p:nvSpPr>
        <p:spPr>
          <a:xfrm>
            <a:off x="96012" y="3627075"/>
            <a:ext cx="816527" cy="276999"/>
          </a:xfrm>
          <a:prstGeom prst="rect">
            <a:avLst/>
          </a:prstGeom>
          <a:noFill/>
        </p:spPr>
        <p:txBody>
          <a:bodyPr wrap="square" rtlCol="0">
            <a:spAutoFit/>
          </a:bodyPr>
          <a:lstStyle/>
          <a:p>
            <a:r>
              <a:rPr lang="en-US" sz="1200" dirty="0"/>
              <a:t>Graphs</a:t>
            </a:r>
          </a:p>
        </p:txBody>
      </p:sp>
      <p:sp>
        <p:nvSpPr>
          <p:cNvPr id="17" name="TextBox 16">
            <a:extLst>
              <a:ext uri="{FF2B5EF4-FFF2-40B4-BE49-F238E27FC236}">
                <a16:creationId xmlns:a16="http://schemas.microsoft.com/office/drawing/2014/main" id="{87130232-A626-72FE-CC39-F4C7B9ADB6B8}"/>
              </a:ext>
            </a:extLst>
          </p:cNvPr>
          <p:cNvSpPr txBox="1"/>
          <p:nvPr/>
        </p:nvSpPr>
        <p:spPr>
          <a:xfrm>
            <a:off x="768006" y="3627075"/>
            <a:ext cx="671994" cy="276999"/>
          </a:xfrm>
          <a:prstGeom prst="rect">
            <a:avLst/>
          </a:prstGeom>
          <a:noFill/>
        </p:spPr>
        <p:txBody>
          <a:bodyPr wrap="square" rtlCol="0">
            <a:spAutoFit/>
          </a:bodyPr>
          <a:lstStyle/>
          <a:p>
            <a:r>
              <a:rPr lang="en-US" sz="1200" dirty="0"/>
              <a:t>Layer 1</a:t>
            </a:r>
          </a:p>
        </p:txBody>
      </p:sp>
      <p:sp>
        <p:nvSpPr>
          <p:cNvPr id="18" name="TextBox 17">
            <a:extLst>
              <a:ext uri="{FF2B5EF4-FFF2-40B4-BE49-F238E27FC236}">
                <a16:creationId xmlns:a16="http://schemas.microsoft.com/office/drawing/2014/main" id="{E02A2EEC-6B2C-5E04-8D6A-DAAD69173016}"/>
              </a:ext>
            </a:extLst>
          </p:cNvPr>
          <p:cNvSpPr txBox="1"/>
          <p:nvPr/>
        </p:nvSpPr>
        <p:spPr>
          <a:xfrm>
            <a:off x="518195" y="3871159"/>
            <a:ext cx="1171615" cy="338554"/>
          </a:xfrm>
          <a:prstGeom prst="rect">
            <a:avLst/>
          </a:prstGeom>
          <a:noFill/>
        </p:spPr>
        <p:txBody>
          <a:bodyPr wrap="square" rtlCol="0">
            <a:spAutoFit/>
          </a:bodyPr>
          <a:lstStyle/>
          <a:p>
            <a:r>
              <a:rPr lang="en-US" sz="800" dirty="0"/>
              <a:t>Layer Name – </a:t>
            </a:r>
          </a:p>
          <a:p>
            <a:r>
              <a:rPr lang="en-US" sz="800" dirty="0"/>
              <a:t>Headcount and SL%</a:t>
            </a:r>
          </a:p>
        </p:txBody>
      </p:sp>
      <p:sp>
        <p:nvSpPr>
          <p:cNvPr id="21" name="TextBox 20">
            <a:extLst>
              <a:ext uri="{FF2B5EF4-FFF2-40B4-BE49-F238E27FC236}">
                <a16:creationId xmlns:a16="http://schemas.microsoft.com/office/drawing/2014/main" id="{00AFFF0D-073C-C6EA-6D95-2675BDDF664D}"/>
              </a:ext>
            </a:extLst>
          </p:cNvPr>
          <p:cNvSpPr txBox="1"/>
          <p:nvPr/>
        </p:nvSpPr>
        <p:spPr>
          <a:xfrm>
            <a:off x="1876293" y="3598431"/>
            <a:ext cx="1653291" cy="430887"/>
          </a:xfrm>
          <a:prstGeom prst="rect">
            <a:avLst/>
          </a:prstGeom>
          <a:noFill/>
        </p:spPr>
        <p:txBody>
          <a:bodyPr wrap="square">
            <a:spAutoFit/>
          </a:bodyPr>
          <a:lstStyle/>
          <a:p>
            <a:r>
              <a:rPr lang="en-US" sz="1100" dirty="0"/>
              <a:t>Actual vs Planned HC Staffing summary</a:t>
            </a:r>
          </a:p>
        </p:txBody>
      </p:sp>
      <p:sp>
        <p:nvSpPr>
          <p:cNvPr id="23" name="TextBox 22">
            <a:extLst>
              <a:ext uri="{FF2B5EF4-FFF2-40B4-BE49-F238E27FC236}">
                <a16:creationId xmlns:a16="http://schemas.microsoft.com/office/drawing/2014/main" id="{1BD7A92C-1E8E-AF45-9634-2F79247419A2}"/>
              </a:ext>
            </a:extLst>
          </p:cNvPr>
          <p:cNvSpPr txBox="1"/>
          <p:nvPr/>
        </p:nvSpPr>
        <p:spPr>
          <a:xfrm>
            <a:off x="1648587" y="4175511"/>
            <a:ext cx="2767965" cy="1169551"/>
          </a:xfrm>
          <a:prstGeom prst="rect">
            <a:avLst/>
          </a:prstGeom>
          <a:noFill/>
        </p:spPr>
        <p:txBody>
          <a:bodyPr wrap="square">
            <a:spAutoFit/>
          </a:bodyPr>
          <a:lstStyle/>
          <a:p>
            <a:r>
              <a:rPr lang="en-US" sz="1000" dirty="0"/>
              <a:t>How the visual should look?</a:t>
            </a:r>
            <a:br>
              <a:rPr lang="en-US" sz="1000" dirty="0"/>
            </a:br>
            <a:r>
              <a:rPr lang="en-US" sz="1000" dirty="0"/>
              <a:t>– Exactly like this below show it at fiscal year default and then be able to drill down to Fiscal quarter and week  On the top right of the graph there should be 1 dropdown to select the plans.</a:t>
            </a:r>
          </a:p>
          <a:p>
            <a:endParaRPr lang="en-US" sz="1000" dirty="0"/>
          </a:p>
        </p:txBody>
      </p:sp>
      <p:pic>
        <p:nvPicPr>
          <p:cNvPr id="25" name="Picture 24">
            <a:extLst>
              <a:ext uri="{FF2B5EF4-FFF2-40B4-BE49-F238E27FC236}">
                <a16:creationId xmlns:a16="http://schemas.microsoft.com/office/drawing/2014/main" id="{78EE91D8-1335-BC09-6BB4-C87B7613C60F}"/>
              </a:ext>
            </a:extLst>
          </p:cNvPr>
          <p:cNvPicPr>
            <a:picLocks noChangeAspect="1"/>
          </p:cNvPicPr>
          <p:nvPr/>
        </p:nvPicPr>
        <p:blipFill>
          <a:blip r:embed="rId3"/>
          <a:stretch>
            <a:fillRect/>
          </a:stretch>
        </p:blipFill>
        <p:spPr>
          <a:xfrm>
            <a:off x="342901" y="5188035"/>
            <a:ext cx="3482592" cy="1582467"/>
          </a:xfrm>
          <a:prstGeom prst="rect">
            <a:avLst/>
          </a:prstGeom>
        </p:spPr>
      </p:pic>
      <p:sp>
        <p:nvSpPr>
          <p:cNvPr id="26" name="TextBox 25">
            <a:extLst>
              <a:ext uri="{FF2B5EF4-FFF2-40B4-BE49-F238E27FC236}">
                <a16:creationId xmlns:a16="http://schemas.microsoft.com/office/drawing/2014/main" id="{5B0372FE-53B8-08F8-8306-6D4E706D391D}"/>
              </a:ext>
            </a:extLst>
          </p:cNvPr>
          <p:cNvSpPr txBox="1"/>
          <p:nvPr/>
        </p:nvSpPr>
        <p:spPr>
          <a:xfrm>
            <a:off x="5432971" y="3642029"/>
            <a:ext cx="1073981" cy="261610"/>
          </a:xfrm>
          <a:prstGeom prst="rect">
            <a:avLst/>
          </a:prstGeom>
          <a:noFill/>
        </p:spPr>
        <p:txBody>
          <a:bodyPr wrap="square">
            <a:spAutoFit/>
          </a:bodyPr>
          <a:lstStyle/>
          <a:p>
            <a:r>
              <a:rPr lang="en-US" sz="1100" dirty="0"/>
              <a:t>Attrition</a:t>
            </a:r>
          </a:p>
        </p:txBody>
      </p:sp>
      <p:sp>
        <p:nvSpPr>
          <p:cNvPr id="27" name="TextBox 26">
            <a:extLst>
              <a:ext uri="{FF2B5EF4-FFF2-40B4-BE49-F238E27FC236}">
                <a16:creationId xmlns:a16="http://schemas.microsoft.com/office/drawing/2014/main" id="{29CFAC40-DC63-B11F-746D-697767D2EE42}"/>
              </a:ext>
            </a:extLst>
          </p:cNvPr>
          <p:cNvSpPr txBox="1"/>
          <p:nvPr/>
        </p:nvSpPr>
        <p:spPr>
          <a:xfrm>
            <a:off x="4647757" y="4175511"/>
            <a:ext cx="2176905" cy="1938992"/>
          </a:xfrm>
          <a:prstGeom prst="rect">
            <a:avLst/>
          </a:prstGeom>
          <a:noFill/>
        </p:spPr>
        <p:txBody>
          <a:bodyPr wrap="square">
            <a:spAutoFit/>
          </a:bodyPr>
          <a:lstStyle/>
          <a:p>
            <a:r>
              <a:rPr lang="en-US" sz="1000" dirty="0"/>
              <a:t>How the visual should look?</a:t>
            </a:r>
            <a:br>
              <a:rPr lang="en-US" sz="1000" dirty="0"/>
            </a:br>
            <a:r>
              <a:rPr lang="en-US" sz="1000" dirty="0"/>
              <a:t>– It should show total employee count in column and attrition in line (attrition numbers should be very low) and employee count should be around 3000-4000 range and should be shown on Fiscal year FY25,FY26,FY27 then be able to drill down to Fiscal quarter and week .</a:t>
            </a:r>
            <a:br>
              <a:rPr lang="en-US" sz="1000" dirty="0"/>
            </a:br>
            <a:r>
              <a:rPr lang="en-US" sz="1000" dirty="0"/>
              <a:t>Also a region and Country toggle should be there at the right top corner</a:t>
            </a:r>
          </a:p>
        </p:txBody>
      </p:sp>
      <p:graphicFrame>
        <p:nvGraphicFramePr>
          <p:cNvPr id="30" name="Table 29">
            <a:extLst>
              <a:ext uri="{FF2B5EF4-FFF2-40B4-BE49-F238E27FC236}">
                <a16:creationId xmlns:a16="http://schemas.microsoft.com/office/drawing/2014/main" id="{8219F108-3094-6216-794B-5F39090D3374}"/>
              </a:ext>
            </a:extLst>
          </p:cNvPr>
          <p:cNvGraphicFramePr>
            <a:graphicFrameLocks noGrp="1"/>
          </p:cNvGraphicFramePr>
          <p:nvPr>
            <p:extLst>
              <p:ext uri="{D42A27DB-BD31-4B8C-83A1-F6EECF244321}">
                <p14:modId xmlns:p14="http://schemas.microsoft.com/office/powerpoint/2010/main" val="4222416196"/>
              </p:ext>
            </p:extLst>
          </p:nvPr>
        </p:nvGraphicFramePr>
        <p:xfrm>
          <a:off x="8260080" y="3711126"/>
          <a:ext cx="2173224" cy="190500"/>
        </p:xfrm>
        <a:graphic>
          <a:graphicData uri="http://schemas.openxmlformats.org/drawingml/2006/table">
            <a:tbl>
              <a:tblPr>
                <a:tableStyleId>{5C22544A-7EE6-4342-B048-85BDC9FD1C3A}</a:tableStyleId>
              </a:tblPr>
              <a:tblGrid>
                <a:gridCol w="2173224">
                  <a:extLst>
                    <a:ext uri="{9D8B030D-6E8A-4147-A177-3AD203B41FA5}">
                      <a16:colId xmlns:a16="http://schemas.microsoft.com/office/drawing/2014/main" val="3453093816"/>
                    </a:ext>
                  </a:extLst>
                </a:gridCol>
              </a:tblGrid>
              <a:tr h="190500">
                <a:tc>
                  <a:txBody>
                    <a:bodyPr/>
                    <a:lstStyle/>
                    <a:p>
                      <a:pPr algn="l" fontAlgn="b">
                        <a:buNone/>
                      </a:pPr>
                      <a:r>
                        <a:rPr lang="en-US" sz="1100" u="none" strike="noStrike" dirty="0">
                          <a:effectLst/>
                        </a:rPr>
                        <a:t>Actual vs Plan trend with SL % </a:t>
                      </a:r>
                      <a:endParaRPr lang="en-US" sz="1100" b="0" i="0" u="none" strike="noStrike" dirty="0">
                        <a:solidFill>
                          <a:srgbClr val="000000"/>
                        </a:solidFill>
                        <a:effectLst/>
                        <a:latin typeface="Aptos Narrow" panose="020B0004020202020204" pitchFamily="34" charset="0"/>
                      </a:endParaRPr>
                    </a:p>
                  </a:txBody>
                  <a:tcPr marL="9525" marR="9525" marT="9525" marB="0" anchor="b">
                    <a:noFill/>
                  </a:tcPr>
                </a:tc>
                <a:extLst>
                  <a:ext uri="{0D108BD9-81ED-4DB2-BD59-A6C34878D82A}">
                    <a16:rowId xmlns:a16="http://schemas.microsoft.com/office/drawing/2014/main" val="2068295427"/>
                  </a:ext>
                </a:extLst>
              </a:tr>
            </a:tbl>
          </a:graphicData>
        </a:graphic>
      </p:graphicFrame>
      <p:sp>
        <p:nvSpPr>
          <p:cNvPr id="32" name="TextBox 31">
            <a:extLst>
              <a:ext uri="{FF2B5EF4-FFF2-40B4-BE49-F238E27FC236}">
                <a16:creationId xmlns:a16="http://schemas.microsoft.com/office/drawing/2014/main" id="{DCF23A9B-D3A6-C890-1DE0-75EBB559D66D}"/>
              </a:ext>
            </a:extLst>
          </p:cNvPr>
          <p:cNvSpPr txBox="1"/>
          <p:nvPr/>
        </p:nvSpPr>
        <p:spPr>
          <a:xfrm>
            <a:off x="8100438" y="4175511"/>
            <a:ext cx="2492507" cy="1477328"/>
          </a:xfrm>
          <a:prstGeom prst="rect">
            <a:avLst/>
          </a:prstGeom>
          <a:noFill/>
        </p:spPr>
        <p:txBody>
          <a:bodyPr wrap="square">
            <a:spAutoFit/>
          </a:bodyPr>
          <a:lstStyle/>
          <a:p>
            <a:r>
              <a:rPr lang="en-US" sz="1000" dirty="0"/>
              <a:t>How the visual should look?</a:t>
            </a:r>
          </a:p>
          <a:p>
            <a:r>
              <a:rPr lang="en-US" sz="1000" dirty="0"/>
              <a:t>-Actual vs plan in column  and </a:t>
            </a:r>
            <a:r>
              <a:rPr lang="en-US" sz="1000" dirty="0" err="1"/>
              <a:t>sl</a:t>
            </a:r>
            <a:r>
              <a:rPr lang="en-US" sz="1000" dirty="0"/>
              <a:t> % in line(for the queues where actual is more than plan) with the defaulter queues ascending wise should be shown on Fiscal year FY25,FY26,FY27 then be able to drill down to Fiscal quarter and week .</a:t>
            </a:r>
            <a:br>
              <a:rPr lang="en-US" sz="1000" dirty="0"/>
            </a:br>
            <a:br>
              <a:rPr lang="en-US" sz="1000" dirty="0"/>
            </a:br>
            <a:endParaRPr lang="en-US" sz="1000" dirty="0"/>
          </a:p>
        </p:txBody>
      </p:sp>
    </p:spTree>
    <p:extLst>
      <p:ext uri="{BB962C8B-B14F-4D97-AF65-F5344CB8AC3E}">
        <p14:creationId xmlns:p14="http://schemas.microsoft.com/office/powerpoint/2010/main" val="3269592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F23139-2454-DD85-29F4-647B3D823D2C}"/>
              </a:ext>
            </a:extLst>
          </p:cNvPr>
          <p:cNvSpPr txBox="1"/>
          <p:nvPr/>
        </p:nvSpPr>
        <p:spPr>
          <a:xfrm>
            <a:off x="75438" y="144518"/>
            <a:ext cx="1040130" cy="261610"/>
          </a:xfrm>
          <a:prstGeom prst="rect">
            <a:avLst/>
          </a:prstGeom>
          <a:noFill/>
        </p:spPr>
        <p:txBody>
          <a:bodyPr wrap="square">
            <a:spAutoFit/>
          </a:bodyPr>
          <a:lstStyle/>
          <a:p>
            <a:r>
              <a:rPr lang="en-US" sz="1100" dirty="0"/>
              <a:t>Layer 2</a:t>
            </a:r>
          </a:p>
        </p:txBody>
      </p:sp>
      <p:sp>
        <p:nvSpPr>
          <p:cNvPr id="5" name="TextBox 4">
            <a:extLst>
              <a:ext uri="{FF2B5EF4-FFF2-40B4-BE49-F238E27FC236}">
                <a16:creationId xmlns:a16="http://schemas.microsoft.com/office/drawing/2014/main" id="{27288C27-2AF8-A0AB-F4E3-6817E17D1A29}"/>
              </a:ext>
            </a:extLst>
          </p:cNvPr>
          <p:cNvSpPr txBox="1"/>
          <p:nvPr/>
        </p:nvSpPr>
        <p:spPr>
          <a:xfrm>
            <a:off x="980694" y="472363"/>
            <a:ext cx="11016234" cy="1323439"/>
          </a:xfrm>
          <a:prstGeom prst="rect">
            <a:avLst/>
          </a:prstGeom>
          <a:noFill/>
        </p:spPr>
        <p:txBody>
          <a:bodyPr wrap="square">
            <a:spAutoFit/>
          </a:bodyPr>
          <a:lstStyle/>
          <a:p>
            <a:r>
              <a:rPr lang="en-US" sz="1000" dirty="0"/>
              <a:t>How the visual should look?</a:t>
            </a:r>
          </a:p>
          <a:p>
            <a:r>
              <a:rPr lang="en-US" sz="1000" dirty="0"/>
              <a:t>Plan over Plan headcount comparison should be there with two dropdowns at the top right corner Named Plan A and Plan B (put in plan names like Dec Plan, Jan Plan ,April Plan –same name in both the dropdowns.</a:t>
            </a:r>
            <a:br>
              <a:rPr lang="en-US" sz="1000" dirty="0"/>
            </a:br>
            <a:r>
              <a:rPr lang="en-US" sz="1000" dirty="0"/>
              <a:t>Column chart should be there for Plan A and Plan B and variance % line should be there (</a:t>
            </a:r>
            <a:r>
              <a:rPr lang="en-US" sz="1000" dirty="0" err="1"/>
              <a:t>i.e</a:t>
            </a:r>
            <a:r>
              <a:rPr lang="en-US" sz="1000" dirty="0"/>
              <a:t> difference % between two plans).</a:t>
            </a:r>
            <a:br>
              <a:rPr lang="en-US" sz="1000" dirty="0"/>
            </a:br>
            <a:r>
              <a:rPr lang="en-US" sz="1000" dirty="0"/>
              <a:t>It should be shown on Fiscal year FY25,FY26,FY27 then be able to drill down to Fiscal quarter and week .</a:t>
            </a:r>
            <a:br>
              <a:rPr lang="en-US" sz="1000" dirty="0"/>
            </a:br>
            <a:br>
              <a:rPr lang="en-US" sz="1000" dirty="0"/>
            </a:br>
            <a:br>
              <a:rPr lang="en-US" sz="1000" dirty="0"/>
            </a:br>
            <a:endParaRPr lang="en-US" sz="1000" dirty="0"/>
          </a:p>
        </p:txBody>
      </p:sp>
      <p:sp>
        <p:nvSpPr>
          <p:cNvPr id="6" name="TextBox 5">
            <a:extLst>
              <a:ext uri="{FF2B5EF4-FFF2-40B4-BE49-F238E27FC236}">
                <a16:creationId xmlns:a16="http://schemas.microsoft.com/office/drawing/2014/main" id="{9E653502-81C3-0631-AFC0-727C26253A8E}"/>
              </a:ext>
            </a:extLst>
          </p:cNvPr>
          <p:cNvSpPr txBox="1"/>
          <p:nvPr/>
        </p:nvSpPr>
        <p:spPr>
          <a:xfrm>
            <a:off x="4555953" y="144518"/>
            <a:ext cx="2018583" cy="261610"/>
          </a:xfrm>
          <a:prstGeom prst="rect">
            <a:avLst/>
          </a:prstGeom>
          <a:noFill/>
        </p:spPr>
        <p:txBody>
          <a:bodyPr wrap="square">
            <a:spAutoFit/>
          </a:bodyPr>
          <a:lstStyle/>
          <a:p>
            <a:r>
              <a:rPr lang="en-US" sz="1100" dirty="0"/>
              <a:t>Plan over Plan Comparison</a:t>
            </a:r>
          </a:p>
        </p:txBody>
      </p:sp>
      <p:sp>
        <p:nvSpPr>
          <p:cNvPr id="7" name="TextBox 6">
            <a:extLst>
              <a:ext uri="{FF2B5EF4-FFF2-40B4-BE49-F238E27FC236}">
                <a16:creationId xmlns:a16="http://schemas.microsoft.com/office/drawing/2014/main" id="{EF180468-65AD-3602-AA16-BC6F50C8DF4B}"/>
              </a:ext>
            </a:extLst>
          </p:cNvPr>
          <p:cNvSpPr txBox="1"/>
          <p:nvPr/>
        </p:nvSpPr>
        <p:spPr>
          <a:xfrm>
            <a:off x="0" y="472363"/>
            <a:ext cx="945283" cy="600164"/>
          </a:xfrm>
          <a:prstGeom prst="rect">
            <a:avLst/>
          </a:prstGeom>
          <a:noFill/>
        </p:spPr>
        <p:txBody>
          <a:bodyPr wrap="square">
            <a:spAutoFit/>
          </a:bodyPr>
          <a:lstStyle/>
          <a:p>
            <a:r>
              <a:rPr lang="en-US" sz="1100" dirty="0"/>
              <a:t>Plan over Plan Comparison</a:t>
            </a:r>
          </a:p>
        </p:txBody>
      </p:sp>
      <p:sp>
        <p:nvSpPr>
          <p:cNvPr id="8" name="TextBox 7">
            <a:extLst>
              <a:ext uri="{FF2B5EF4-FFF2-40B4-BE49-F238E27FC236}">
                <a16:creationId xmlns:a16="http://schemas.microsoft.com/office/drawing/2014/main" id="{4CA58672-4D2A-48C3-62A3-6DE62A9E16B3}"/>
              </a:ext>
            </a:extLst>
          </p:cNvPr>
          <p:cNvSpPr txBox="1"/>
          <p:nvPr/>
        </p:nvSpPr>
        <p:spPr>
          <a:xfrm>
            <a:off x="7226001" y="144518"/>
            <a:ext cx="4965999" cy="261610"/>
          </a:xfrm>
          <a:prstGeom prst="rect">
            <a:avLst/>
          </a:prstGeom>
          <a:noFill/>
        </p:spPr>
        <p:txBody>
          <a:bodyPr wrap="square">
            <a:spAutoFit/>
          </a:bodyPr>
          <a:lstStyle/>
          <a:p>
            <a:r>
              <a:rPr lang="en-US" sz="1100" dirty="0"/>
              <a:t>* Only one graph should be there in this layer it should cover the entire layer</a:t>
            </a:r>
          </a:p>
        </p:txBody>
      </p:sp>
      <p:sp>
        <p:nvSpPr>
          <p:cNvPr id="10" name="TextBox 9">
            <a:extLst>
              <a:ext uri="{FF2B5EF4-FFF2-40B4-BE49-F238E27FC236}">
                <a16:creationId xmlns:a16="http://schemas.microsoft.com/office/drawing/2014/main" id="{9C7517F8-C852-AB79-5D8F-78CD77BC6345}"/>
              </a:ext>
            </a:extLst>
          </p:cNvPr>
          <p:cNvSpPr txBox="1"/>
          <p:nvPr/>
        </p:nvSpPr>
        <p:spPr>
          <a:xfrm>
            <a:off x="75438" y="1677371"/>
            <a:ext cx="756666" cy="246221"/>
          </a:xfrm>
          <a:prstGeom prst="rect">
            <a:avLst/>
          </a:prstGeom>
          <a:noFill/>
        </p:spPr>
        <p:txBody>
          <a:bodyPr wrap="square">
            <a:spAutoFit/>
          </a:bodyPr>
          <a:lstStyle/>
          <a:p>
            <a:r>
              <a:rPr lang="en-US" sz="1000" dirty="0"/>
              <a:t>Layer 3</a:t>
            </a:r>
          </a:p>
        </p:txBody>
      </p:sp>
      <p:sp>
        <p:nvSpPr>
          <p:cNvPr id="12" name="TextBox 11">
            <a:extLst>
              <a:ext uri="{FF2B5EF4-FFF2-40B4-BE49-F238E27FC236}">
                <a16:creationId xmlns:a16="http://schemas.microsoft.com/office/drawing/2014/main" id="{64FB9DE3-5871-D5AA-E36C-E0B9BF4D10A2}"/>
              </a:ext>
            </a:extLst>
          </p:cNvPr>
          <p:cNvSpPr txBox="1"/>
          <p:nvPr/>
        </p:nvSpPr>
        <p:spPr>
          <a:xfrm>
            <a:off x="0" y="2000750"/>
            <a:ext cx="774954" cy="246221"/>
          </a:xfrm>
          <a:prstGeom prst="rect">
            <a:avLst/>
          </a:prstGeom>
          <a:noFill/>
        </p:spPr>
        <p:txBody>
          <a:bodyPr wrap="square">
            <a:spAutoFit/>
          </a:bodyPr>
          <a:lstStyle/>
          <a:p>
            <a:r>
              <a:rPr lang="en-US" sz="1000" dirty="0"/>
              <a:t>Utilization</a:t>
            </a:r>
          </a:p>
        </p:txBody>
      </p:sp>
      <p:sp>
        <p:nvSpPr>
          <p:cNvPr id="13" name="TextBox 12">
            <a:extLst>
              <a:ext uri="{FF2B5EF4-FFF2-40B4-BE49-F238E27FC236}">
                <a16:creationId xmlns:a16="http://schemas.microsoft.com/office/drawing/2014/main" id="{44F7E37E-8812-D022-E05C-25E9A0397CFF}"/>
              </a:ext>
            </a:extLst>
          </p:cNvPr>
          <p:cNvSpPr txBox="1"/>
          <p:nvPr/>
        </p:nvSpPr>
        <p:spPr>
          <a:xfrm>
            <a:off x="1528821" y="1646593"/>
            <a:ext cx="1781307" cy="261610"/>
          </a:xfrm>
          <a:prstGeom prst="rect">
            <a:avLst/>
          </a:prstGeom>
          <a:noFill/>
        </p:spPr>
        <p:txBody>
          <a:bodyPr wrap="square">
            <a:spAutoFit/>
          </a:bodyPr>
          <a:lstStyle/>
          <a:p>
            <a:r>
              <a:rPr lang="en-US" sz="1100" dirty="0"/>
              <a:t>Actual vs Target Utilization</a:t>
            </a:r>
          </a:p>
        </p:txBody>
      </p:sp>
      <p:sp>
        <p:nvSpPr>
          <p:cNvPr id="14" name="TextBox 13">
            <a:extLst>
              <a:ext uri="{FF2B5EF4-FFF2-40B4-BE49-F238E27FC236}">
                <a16:creationId xmlns:a16="http://schemas.microsoft.com/office/drawing/2014/main" id="{9A3F5650-B60E-13AC-27CD-A9FFD197E63E}"/>
              </a:ext>
            </a:extLst>
          </p:cNvPr>
          <p:cNvSpPr txBox="1"/>
          <p:nvPr/>
        </p:nvSpPr>
        <p:spPr>
          <a:xfrm>
            <a:off x="1894753" y="1400372"/>
            <a:ext cx="921426" cy="276999"/>
          </a:xfrm>
          <a:prstGeom prst="rect">
            <a:avLst/>
          </a:prstGeom>
          <a:noFill/>
        </p:spPr>
        <p:txBody>
          <a:bodyPr wrap="square" rtlCol="0">
            <a:spAutoFit/>
          </a:bodyPr>
          <a:lstStyle/>
          <a:p>
            <a:r>
              <a:rPr lang="en-US" sz="1200" dirty="0"/>
              <a:t>Visual  1</a:t>
            </a:r>
          </a:p>
        </p:txBody>
      </p:sp>
      <p:sp>
        <p:nvSpPr>
          <p:cNvPr id="16" name="TextBox 15">
            <a:extLst>
              <a:ext uri="{FF2B5EF4-FFF2-40B4-BE49-F238E27FC236}">
                <a16:creationId xmlns:a16="http://schemas.microsoft.com/office/drawing/2014/main" id="{788232EE-856B-564B-02B5-35E69E2D2181}"/>
              </a:ext>
            </a:extLst>
          </p:cNvPr>
          <p:cNvSpPr txBox="1"/>
          <p:nvPr/>
        </p:nvSpPr>
        <p:spPr>
          <a:xfrm>
            <a:off x="1528821" y="2042023"/>
            <a:ext cx="1781307" cy="1015663"/>
          </a:xfrm>
          <a:prstGeom prst="rect">
            <a:avLst/>
          </a:prstGeom>
          <a:noFill/>
        </p:spPr>
        <p:txBody>
          <a:bodyPr wrap="square">
            <a:spAutoFit/>
          </a:bodyPr>
          <a:lstStyle/>
          <a:p>
            <a:r>
              <a:rPr lang="en-US" sz="1000" dirty="0"/>
              <a:t>How the visual should look?</a:t>
            </a:r>
          </a:p>
          <a:p>
            <a:r>
              <a:rPr lang="en-US" sz="1000" dirty="0"/>
              <a:t>Actual and Targets in column chart and adherence % on hover highlight due to which Aux(Aux 1 to 9) utilization went down.</a:t>
            </a:r>
          </a:p>
        </p:txBody>
      </p:sp>
      <p:sp>
        <p:nvSpPr>
          <p:cNvPr id="17" name="TextBox 16">
            <a:extLst>
              <a:ext uri="{FF2B5EF4-FFF2-40B4-BE49-F238E27FC236}">
                <a16:creationId xmlns:a16="http://schemas.microsoft.com/office/drawing/2014/main" id="{519C607B-D5B2-CCA8-35A2-5F97504848D0}"/>
              </a:ext>
            </a:extLst>
          </p:cNvPr>
          <p:cNvSpPr txBox="1"/>
          <p:nvPr/>
        </p:nvSpPr>
        <p:spPr>
          <a:xfrm>
            <a:off x="5653110" y="1400371"/>
            <a:ext cx="921426" cy="276999"/>
          </a:xfrm>
          <a:prstGeom prst="rect">
            <a:avLst/>
          </a:prstGeom>
          <a:noFill/>
        </p:spPr>
        <p:txBody>
          <a:bodyPr wrap="square" rtlCol="0">
            <a:spAutoFit/>
          </a:bodyPr>
          <a:lstStyle/>
          <a:p>
            <a:r>
              <a:rPr lang="en-US" sz="1200" dirty="0"/>
              <a:t>Visual  2</a:t>
            </a:r>
          </a:p>
        </p:txBody>
      </p:sp>
      <p:sp>
        <p:nvSpPr>
          <p:cNvPr id="19" name="TextBox 18">
            <a:extLst>
              <a:ext uri="{FF2B5EF4-FFF2-40B4-BE49-F238E27FC236}">
                <a16:creationId xmlns:a16="http://schemas.microsoft.com/office/drawing/2014/main" id="{A5711B14-FE6A-AA77-8A30-3C6F7750745C}"/>
              </a:ext>
            </a:extLst>
          </p:cNvPr>
          <p:cNvSpPr txBox="1"/>
          <p:nvPr/>
        </p:nvSpPr>
        <p:spPr>
          <a:xfrm>
            <a:off x="5223169" y="1646593"/>
            <a:ext cx="1781307" cy="246221"/>
          </a:xfrm>
          <a:prstGeom prst="rect">
            <a:avLst/>
          </a:prstGeom>
          <a:noFill/>
        </p:spPr>
        <p:txBody>
          <a:bodyPr wrap="square">
            <a:spAutoFit/>
          </a:bodyPr>
          <a:lstStyle/>
          <a:p>
            <a:r>
              <a:rPr lang="en-US" sz="1000" dirty="0"/>
              <a:t>Queues with Aux culprit</a:t>
            </a:r>
          </a:p>
        </p:txBody>
      </p:sp>
      <p:sp>
        <p:nvSpPr>
          <p:cNvPr id="20" name="TextBox 19">
            <a:extLst>
              <a:ext uri="{FF2B5EF4-FFF2-40B4-BE49-F238E27FC236}">
                <a16:creationId xmlns:a16="http://schemas.microsoft.com/office/drawing/2014/main" id="{4211BA02-82ED-119B-ED83-CD0B1CF10194}"/>
              </a:ext>
            </a:extLst>
          </p:cNvPr>
          <p:cNvSpPr txBox="1"/>
          <p:nvPr/>
        </p:nvSpPr>
        <p:spPr>
          <a:xfrm>
            <a:off x="9242386" y="1400371"/>
            <a:ext cx="921426" cy="276999"/>
          </a:xfrm>
          <a:prstGeom prst="rect">
            <a:avLst/>
          </a:prstGeom>
          <a:noFill/>
        </p:spPr>
        <p:txBody>
          <a:bodyPr wrap="square" rtlCol="0">
            <a:spAutoFit/>
          </a:bodyPr>
          <a:lstStyle/>
          <a:p>
            <a:r>
              <a:rPr lang="en-US" sz="1200" dirty="0"/>
              <a:t>Visual  3</a:t>
            </a:r>
          </a:p>
        </p:txBody>
      </p:sp>
      <p:sp>
        <p:nvSpPr>
          <p:cNvPr id="22" name="TextBox 21">
            <a:extLst>
              <a:ext uri="{FF2B5EF4-FFF2-40B4-BE49-F238E27FC236}">
                <a16:creationId xmlns:a16="http://schemas.microsoft.com/office/drawing/2014/main" id="{EBDF9226-25F7-EBAE-FF2D-E7E219702B3A}"/>
              </a:ext>
            </a:extLst>
          </p:cNvPr>
          <p:cNvSpPr txBox="1"/>
          <p:nvPr/>
        </p:nvSpPr>
        <p:spPr>
          <a:xfrm>
            <a:off x="8615133" y="1646592"/>
            <a:ext cx="2175931" cy="246221"/>
          </a:xfrm>
          <a:prstGeom prst="rect">
            <a:avLst/>
          </a:prstGeom>
          <a:noFill/>
        </p:spPr>
        <p:txBody>
          <a:bodyPr wrap="square">
            <a:spAutoFit/>
          </a:bodyPr>
          <a:lstStyle/>
          <a:p>
            <a:r>
              <a:rPr lang="en-US" sz="1000" dirty="0"/>
              <a:t>Outage -Actual vs Target Leaves</a:t>
            </a:r>
          </a:p>
        </p:txBody>
      </p:sp>
      <p:sp>
        <p:nvSpPr>
          <p:cNvPr id="23" name="TextBox 22">
            <a:extLst>
              <a:ext uri="{FF2B5EF4-FFF2-40B4-BE49-F238E27FC236}">
                <a16:creationId xmlns:a16="http://schemas.microsoft.com/office/drawing/2014/main" id="{560666F8-55CA-4EAB-0256-F0518BD817B9}"/>
              </a:ext>
            </a:extLst>
          </p:cNvPr>
          <p:cNvSpPr txBox="1"/>
          <p:nvPr/>
        </p:nvSpPr>
        <p:spPr>
          <a:xfrm>
            <a:off x="5205346" y="2042023"/>
            <a:ext cx="1781307" cy="1169551"/>
          </a:xfrm>
          <a:prstGeom prst="rect">
            <a:avLst/>
          </a:prstGeom>
          <a:noFill/>
        </p:spPr>
        <p:txBody>
          <a:bodyPr wrap="square">
            <a:spAutoFit/>
          </a:bodyPr>
          <a:lstStyle/>
          <a:p>
            <a:r>
              <a:rPr lang="en-US" sz="1000" dirty="0"/>
              <a:t>How the visual should look?</a:t>
            </a:r>
          </a:p>
          <a:p>
            <a:r>
              <a:rPr lang="en-US" sz="1000" dirty="0"/>
              <a:t>Actual and Targets utilization  in column chart and adherence % in  line and on hover highlight due to which Aux(Aux 1 to 9) utilization went down.</a:t>
            </a:r>
          </a:p>
        </p:txBody>
      </p:sp>
      <p:sp>
        <p:nvSpPr>
          <p:cNvPr id="24" name="TextBox 23">
            <a:extLst>
              <a:ext uri="{FF2B5EF4-FFF2-40B4-BE49-F238E27FC236}">
                <a16:creationId xmlns:a16="http://schemas.microsoft.com/office/drawing/2014/main" id="{3CFE205C-B789-D0F0-E154-B9266F1131C9}"/>
              </a:ext>
            </a:extLst>
          </p:cNvPr>
          <p:cNvSpPr txBox="1"/>
          <p:nvPr/>
        </p:nvSpPr>
        <p:spPr>
          <a:xfrm>
            <a:off x="8615133" y="2042022"/>
            <a:ext cx="1781307" cy="1169551"/>
          </a:xfrm>
          <a:prstGeom prst="rect">
            <a:avLst/>
          </a:prstGeom>
          <a:noFill/>
        </p:spPr>
        <p:txBody>
          <a:bodyPr wrap="square">
            <a:spAutoFit/>
          </a:bodyPr>
          <a:lstStyle/>
          <a:p>
            <a:r>
              <a:rPr lang="en-US" sz="1000" dirty="0"/>
              <a:t>How the visual should look?</a:t>
            </a:r>
          </a:p>
          <a:p>
            <a:r>
              <a:rPr lang="en-US" sz="1000" dirty="0"/>
              <a:t>Actual and Targets leave  in column chart (x –axis – CQN) and CQN with highest delta(actual vs plan) – should be arranged in ascending order.</a:t>
            </a:r>
          </a:p>
        </p:txBody>
      </p:sp>
      <p:sp>
        <p:nvSpPr>
          <p:cNvPr id="26" name="TextBox 25">
            <a:extLst>
              <a:ext uri="{FF2B5EF4-FFF2-40B4-BE49-F238E27FC236}">
                <a16:creationId xmlns:a16="http://schemas.microsoft.com/office/drawing/2014/main" id="{3A6C2A1A-938B-213C-1ECE-D4BBFD160E49}"/>
              </a:ext>
            </a:extLst>
          </p:cNvPr>
          <p:cNvSpPr txBox="1"/>
          <p:nvPr/>
        </p:nvSpPr>
        <p:spPr>
          <a:xfrm>
            <a:off x="64008" y="3868883"/>
            <a:ext cx="756666" cy="246221"/>
          </a:xfrm>
          <a:prstGeom prst="rect">
            <a:avLst/>
          </a:prstGeom>
          <a:noFill/>
        </p:spPr>
        <p:txBody>
          <a:bodyPr wrap="square">
            <a:spAutoFit/>
          </a:bodyPr>
          <a:lstStyle/>
          <a:p>
            <a:r>
              <a:rPr lang="en-US" sz="1000" dirty="0"/>
              <a:t>Layer 4</a:t>
            </a:r>
          </a:p>
        </p:txBody>
      </p:sp>
      <p:sp>
        <p:nvSpPr>
          <p:cNvPr id="27" name="TextBox 26">
            <a:extLst>
              <a:ext uri="{FF2B5EF4-FFF2-40B4-BE49-F238E27FC236}">
                <a16:creationId xmlns:a16="http://schemas.microsoft.com/office/drawing/2014/main" id="{A3BFC69D-2431-CB9B-603B-F7D0691EA3CA}"/>
              </a:ext>
            </a:extLst>
          </p:cNvPr>
          <p:cNvSpPr txBox="1"/>
          <p:nvPr/>
        </p:nvSpPr>
        <p:spPr>
          <a:xfrm>
            <a:off x="820674" y="3881897"/>
            <a:ext cx="944958" cy="215444"/>
          </a:xfrm>
          <a:prstGeom prst="rect">
            <a:avLst/>
          </a:prstGeom>
          <a:noFill/>
        </p:spPr>
        <p:txBody>
          <a:bodyPr wrap="square" rtlCol="0">
            <a:spAutoFit/>
          </a:bodyPr>
          <a:lstStyle/>
          <a:p>
            <a:r>
              <a:rPr lang="en-US" sz="800" dirty="0"/>
              <a:t>Geo Map</a:t>
            </a:r>
          </a:p>
        </p:txBody>
      </p:sp>
      <p:pic>
        <p:nvPicPr>
          <p:cNvPr id="28" name="Picture 27">
            <a:extLst>
              <a:ext uri="{FF2B5EF4-FFF2-40B4-BE49-F238E27FC236}">
                <a16:creationId xmlns:a16="http://schemas.microsoft.com/office/drawing/2014/main" id="{ACA135D2-1FB3-48EA-D230-B8B6B181EF1F}"/>
              </a:ext>
            </a:extLst>
          </p:cNvPr>
          <p:cNvPicPr>
            <a:picLocks noChangeAspect="1"/>
          </p:cNvPicPr>
          <p:nvPr/>
        </p:nvPicPr>
        <p:blipFill>
          <a:blip r:embed="rId2"/>
          <a:stretch>
            <a:fillRect/>
          </a:stretch>
        </p:blipFill>
        <p:spPr>
          <a:xfrm>
            <a:off x="1961059" y="3739263"/>
            <a:ext cx="7208369" cy="2944287"/>
          </a:xfrm>
          <a:prstGeom prst="rect">
            <a:avLst/>
          </a:prstGeom>
        </p:spPr>
      </p:pic>
      <p:sp>
        <p:nvSpPr>
          <p:cNvPr id="29" name="TextBox 28">
            <a:extLst>
              <a:ext uri="{FF2B5EF4-FFF2-40B4-BE49-F238E27FC236}">
                <a16:creationId xmlns:a16="http://schemas.microsoft.com/office/drawing/2014/main" id="{CCB0B5D4-9579-660A-6631-D4CF0D152AF1}"/>
              </a:ext>
            </a:extLst>
          </p:cNvPr>
          <p:cNvSpPr txBox="1"/>
          <p:nvPr/>
        </p:nvSpPr>
        <p:spPr>
          <a:xfrm>
            <a:off x="9619487" y="3574244"/>
            <a:ext cx="2462213" cy="1615827"/>
          </a:xfrm>
          <a:prstGeom prst="rect">
            <a:avLst/>
          </a:prstGeom>
          <a:noFill/>
        </p:spPr>
        <p:txBody>
          <a:bodyPr wrap="square">
            <a:spAutoFit/>
          </a:bodyPr>
          <a:lstStyle/>
          <a:p>
            <a:r>
              <a:rPr lang="en-US" sz="1100" dirty="0"/>
              <a:t>How the visual should look?</a:t>
            </a:r>
            <a:br>
              <a:rPr lang="en-US" sz="1100" dirty="0"/>
            </a:br>
            <a:r>
              <a:rPr lang="en-US" sz="1100" dirty="0"/>
              <a:t>Showing all the CQN,S across regions with color coding – max deficit dark to light for min deficit in headcount and also SL% same conditional formatting.</a:t>
            </a:r>
            <a:br>
              <a:rPr lang="en-US" sz="1100" dirty="0"/>
            </a:br>
            <a:br>
              <a:rPr lang="en-US" sz="1100" dirty="0"/>
            </a:br>
            <a:r>
              <a:rPr lang="en-US" sz="1100" dirty="0"/>
              <a:t>It should have toggle as well between region and country</a:t>
            </a:r>
          </a:p>
        </p:txBody>
      </p:sp>
    </p:spTree>
    <p:extLst>
      <p:ext uri="{BB962C8B-B14F-4D97-AF65-F5344CB8AC3E}">
        <p14:creationId xmlns:p14="http://schemas.microsoft.com/office/powerpoint/2010/main" val="2401515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89BF0BD-B36D-2F89-43C2-C803CFA892C1}"/>
              </a:ext>
            </a:extLst>
          </p:cNvPr>
          <p:cNvGrpSpPr/>
          <p:nvPr/>
        </p:nvGrpSpPr>
        <p:grpSpPr>
          <a:xfrm>
            <a:off x="152697" y="2428102"/>
            <a:ext cx="2975514" cy="2134274"/>
            <a:chOff x="1800914" y="3190603"/>
            <a:chExt cx="5312358" cy="2491501"/>
          </a:xfrm>
        </p:grpSpPr>
        <p:sp>
          <p:nvSpPr>
            <p:cNvPr id="3" name="Rectangle 2">
              <a:extLst>
                <a:ext uri="{FF2B5EF4-FFF2-40B4-BE49-F238E27FC236}">
                  <a16:creationId xmlns:a16="http://schemas.microsoft.com/office/drawing/2014/main" id="{07BA2F28-C625-AF7E-2363-2B23977BA08F}"/>
                </a:ext>
              </a:extLst>
            </p:cNvPr>
            <p:cNvSpPr/>
            <p:nvPr/>
          </p:nvSpPr>
          <p:spPr>
            <a:xfrm>
              <a:off x="1800914" y="3190603"/>
              <a:ext cx="5312358" cy="24915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p>
          </p:txBody>
        </p:sp>
        <p:sp>
          <p:nvSpPr>
            <p:cNvPr id="4" name="TextBox 3">
              <a:extLst>
                <a:ext uri="{FF2B5EF4-FFF2-40B4-BE49-F238E27FC236}">
                  <a16:creationId xmlns:a16="http://schemas.microsoft.com/office/drawing/2014/main" id="{308BF745-3045-1504-2CB4-B0906EE749DF}"/>
                </a:ext>
              </a:extLst>
            </p:cNvPr>
            <p:cNvSpPr txBox="1"/>
            <p:nvPr/>
          </p:nvSpPr>
          <p:spPr>
            <a:xfrm>
              <a:off x="1800914" y="3199755"/>
              <a:ext cx="2749863" cy="222497"/>
            </a:xfrm>
            <a:prstGeom prst="rect">
              <a:avLst/>
            </a:prstGeom>
            <a:noFill/>
            <a:ln>
              <a:noFill/>
            </a:ln>
          </p:spPr>
          <p:txBody>
            <a:bodyPr wrap="none" rtlCol="0">
              <a:spAutoFit/>
            </a:bodyPr>
            <a:lstStyle/>
            <a:p>
              <a:r>
                <a:rPr lang="en-IN" sz="1000" b="1" dirty="0">
                  <a:solidFill>
                    <a:schemeClr val="bg1"/>
                  </a:solidFill>
                </a:rPr>
                <a:t>ASU Actual vs Plan with Adherence</a:t>
              </a:r>
            </a:p>
          </p:txBody>
        </p:sp>
        <p:sp>
          <p:nvSpPr>
            <p:cNvPr id="5" name="TextBox 4">
              <a:extLst>
                <a:ext uri="{FF2B5EF4-FFF2-40B4-BE49-F238E27FC236}">
                  <a16:creationId xmlns:a16="http://schemas.microsoft.com/office/drawing/2014/main" id="{DA844BCC-AAC9-0AF4-9B38-1A38A54CB31A}"/>
                </a:ext>
              </a:extLst>
            </p:cNvPr>
            <p:cNvSpPr txBox="1"/>
            <p:nvPr/>
          </p:nvSpPr>
          <p:spPr>
            <a:xfrm>
              <a:off x="1800916" y="3406551"/>
              <a:ext cx="5312356" cy="1239554"/>
            </a:xfrm>
            <a:prstGeom prst="rect">
              <a:avLst/>
            </a:prstGeom>
            <a:noFill/>
            <a:ln>
              <a:noFill/>
            </a:ln>
          </p:spPr>
          <p:txBody>
            <a:bodyPr wrap="square" rtlCol="0">
              <a:spAutoFit/>
            </a:bodyPr>
            <a:lstStyle/>
            <a:p>
              <a:br>
                <a:rPr lang="en-IN" sz="900" dirty="0">
                  <a:solidFill>
                    <a:schemeClr val="bg1"/>
                  </a:solidFill>
                </a:rPr>
              </a:br>
              <a:r>
                <a:rPr lang="en-US" sz="900" dirty="0">
                  <a:solidFill>
                    <a:schemeClr val="bg1"/>
                  </a:solidFill>
                </a:rPr>
                <a:t>How the visual should look?</a:t>
              </a:r>
              <a:br>
                <a:rPr lang="en-US" sz="900" dirty="0">
                  <a:solidFill>
                    <a:schemeClr val="bg1"/>
                  </a:solidFill>
                </a:rPr>
              </a:br>
              <a:r>
                <a:rPr lang="en-US" sz="900" dirty="0">
                  <a:solidFill>
                    <a:schemeClr val="bg1"/>
                  </a:solidFill>
                </a:rPr>
                <a:t>Column chart with actuals and Plan  in columns and adherence  % in line based on Fiscal Year, </a:t>
              </a:r>
              <a:r>
                <a:rPr lang="en-US" sz="900" dirty="0" err="1">
                  <a:solidFill>
                    <a:schemeClr val="bg1"/>
                  </a:solidFill>
                </a:rPr>
                <a:t>quarter,month,week</a:t>
              </a:r>
              <a:r>
                <a:rPr lang="en-US" sz="900" dirty="0">
                  <a:solidFill>
                    <a:schemeClr val="bg1"/>
                  </a:solidFill>
                </a:rPr>
                <a:t> and should change according to the filters above.</a:t>
              </a:r>
            </a:p>
            <a:p>
              <a:endParaRPr lang="en-IN" sz="900" dirty="0">
                <a:solidFill>
                  <a:schemeClr val="bg1"/>
                </a:solidFill>
              </a:endParaRPr>
            </a:p>
          </p:txBody>
        </p:sp>
      </p:grpSp>
      <p:sp>
        <p:nvSpPr>
          <p:cNvPr id="6" name="TextBox 5">
            <a:extLst>
              <a:ext uri="{FF2B5EF4-FFF2-40B4-BE49-F238E27FC236}">
                <a16:creationId xmlns:a16="http://schemas.microsoft.com/office/drawing/2014/main" id="{694907E7-63AF-4B58-77E6-0A4A63DA3430}"/>
              </a:ext>
            </a:extLst>
          </p:cNvPr>
          <p:cNvSpPr txBox="1"/>
          <p:nvPr/>
        </p:nvSpPr>
        <p:spPr>
          <a:xfrm>
            <a:off x="133561" y="2138459"/>
            <a:ext cx="771365" cy="246221"/>
          </a:xfrm>
          <a:prstGeom prst="rect">
            <a:avLst/>
          </a:prstGeom>
          <a:noFill/>
          <a:ln>
            <a:solidFill>
              <a:schemeClr val="accent1"/>
            </a:solidFill>
          </a:ln>
        </p:spPr>
        <p:txBody>
          <a:bodyPr wrap="none" rtlCol="0">
            <a:spAutoFit/>
          </a:bodyPr>
          <a:lstStyle/>
          <a:p>
            <a:r>
              <a:rPr lang="en-IN" sz="1000" dirty="0"/>
              <a:t>ASU Layer </a:t>
            </a:r>
          </a:p>
        </p:txBody>
      </p:sp>
      <p:grpSp>
        <p:nvGrpSpPr>
          <p:cNvPr id="7" name="Group 6">
            <a:extLst>
              <a:ext uri="{FF2B5EF4-FFF2-40B4-BE49-F238E27FC236}">
                <a16:creationId xmlns:a16="http://schemas.microsoft.com/office/drawing/2014/main" id="{6BFAB42E-8EF3-12EF-8DAB-FBCE582F013B}"/>
              </a:ext>
            </a:extLst>
          </p:cNvPr>
          <p:cNvGrpSpPr/>
          <p:nvPr/>
        </p:nvGrpSpPr>
        <p:grpSpPr>
          <a:xfrm>
            <a:off x="3352695" y="2418408"/>
            <a:ext cx="2566842" cy="2134274"/>
            <a:chOff x="1752541" y="3190603"/>
            <a:chExt cx="5360731" cy="2491501"/>
          </a:xfrm>
        </p:grpSpPr>
        <p:sp>
          <p:nvSpPr>
            <p:cNvPr id="8" name="Rectangle 7">
              <a:extLst>
                <a:ext uri="{FF2B5EF4-FFF2-40B4-BE49-F238E27FC236}">
                  <a16:creationId xmlns:a16="http://schemas.microsoft.com/office/drawing/2014/main" id="{AC7BFEAF-893E-94AC-18D4-3B4819319FE5}"/>
                </a:ext>
              </a:extLst>
            </p:cNvPr>
            <p:cNvSpPr/>
            <p:nvPr/>
          </p:nvSpPr>
          <p:spPr>
            <a:xfrm>
              <a:off x="1800914" y="3190603"/>
              <a:ext cx="5312358" cy="24915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p>
          </p:txBody>
        </p:sp>
        <p:sp>
          <p:nvSpPr>
            <p:cNvPr id="9" name="TextBox 8">
              <a:extLst>
                <a:ext uri="{FF2B5EF4-FFF2-40B4-BE49-F238E27FC236}">
                  <a16:creationId xmlns:a16="http://schemas.microsoft.com/office/drawing/2014/main" id="{9E0B307E-B6C1-5356-F39E-60DCF9CE6D58}"/>
                </a:ext>
              </a:extLst>
            </p:cNvPr>
            <p:cNvSpPr txBox="1"/>
            <p:nvPr/>
          </p:nvSpPr>
          <p:spPr>
            <a:xfrm>
              <a:off x="1800914" y="3199755"/>
              <a:ext cx="2841003" cy="287433"/>
            </a:xfrm>
            <a:prstGeom prst="rect">
              <a:avLst/>
            </a:prstGeom>
            <a:noFill/>
            <a:ln>
              <a:noFill/>
            </a:ln>
          </p:spPr>
          <p:txBody>
            <a:bodyPr wrap="none" rtlCol="0">
              <a:spAutoFit/>
            </a:bodyPr>
            <a:lstStyle/>
            <a:p>
              <a:r>
                <a:rPr lang="en-IN" sz="1000" b="1" dirty="0">
                  <a:solidFill>
                    <a:schemeClr val="bg1"/>
                  </a:solidFill>
                </a:rPr>
                <a:t>ASU Plan on Plan Comparison</a:t>
              </a:r>
            </a:p>
          </p:txBody>
        </p:sp>
        <p:sp>
          <p:nvSpPr>
            <p:cNvPr id="10" name="TextBox 9">
              <a:extLst>
                <a:ext uri="{FF2B5EF4-FFF2-40B4-BE49-F238E27FC236}">
                  <a16:creationId xmlns:a16="http://schemas.microsoft.com/office/drawing/2014/main" id="{7E4B59F3-C637-8A30-ADAE-9C8E27B4812A}"/>
                </a:ext>
              </a:extLst>
            </p:cNvPr>
            <p:cNvSpPr txBox="1"/>
            <p:nvPr/>
          </p:nvSpPr>
          <p:spPr>
            <a:xfrm>
              <a:off x="1752541" y="3623621"/>
              <a:ext cx="5312358" cy="826369"/>
            </a:xfrm>
            <a:prstGeom prst="rect">
              <a:avLst/>
            </a:prstGeom>
            <a:noFill/>
            <a:ln>
              <a:noFill/>
            </a:ln>
          </p:spPr>
          <p:txBody>
            <a:bodyPr wrap="square" rtlCol="0">
              <a:spAutoFit/>
            </a:bodyPr>
            <a:lstStyle/>
            <a:p>
              <a:r>
                <a:rPr lang="en-US" sz="800" dirty="0">
                  <a:solidFill>
                    <a:schemeClr val="bg1"/>
                  </a:solidFill>
                </a:rPr>
                <a:t>How the visual should look?</a:t>
              </a:r>
              <a:br>
                <a:rPr lang="en-US" sz="800" dirty="0">
                  <a:solidFill>
                    <a:schemeClr val="bg1"/>
                  </a:solidFill>
                </a:rPr>
              </a:br>
              <a:r>
                <a:rPr lang="en-US" sz="800" dirty="0">
                  <a:solidFill>
                    <a:schemeClr val="bg1"/>
                  </a:solidFill>
                </a:rPr>
                <a:t>Column chart with Plan 1 and Plan 2 in columns and variance % in line based on Fiscal Year, </a:t>
              </a:r>
              <a:r>
                <a:rPr lang="en-US" sz="800" dirty="0" err="1">
                  <a:solidFill>
                    <a:schemeClr val="bg1"/>
                  </a:solidFill>
                </a:rPr>
                <a:t>quarter,month,week</a:t>
              </a:r>
              <a:r>
                <a:rPr lang="en-US" sz="800" dirty="0">
                  <a:solidFill>
                    <a:schemeClr val="bg1"/>
                  </a:solidFill>
                </a:rPr>
                <a:t> and should change according to the filters above.</a:t>
              </a:r>
            </a:p>
          </p:txBody>
        </p:sp>
      </p:grpSp>
      <p:grpSp>
        <p:nvGrpSpPr>
          <p:cNvPr id="15" name="Group 14">
            <a:extLst>
              <a:ext uri="{FF2B5EF4-FFF2-40B4-BE49-F238E27FC236}">
                <a16:creationId xmlns:a16="http://schemas.microsoft.com/office/drawing/2014/main" id="{61E413D5-975E-4F59-B28B-04F2606D9017}"/>
              </a:ext>
            </a:extLst>
          </p:cNvPr>
          <p:cNvGrpSpPr/>
          <p:nvPr/>
        </p:nvGrpSpPr>
        <p:grpSpPr>
          <a:xfrm>
            <a:off x="6144021" y="2407373"/>
            <a:ext cx="4155012" cy="2155003"/>
            <a:chOff x="1800914" y="3190603"/>
            <a:chExt cx="5312358" cy="4252814"/>
          </a:xfrm>
        </p:grpSpPr>
        <p:sp>
          <p:nvSpPr>
            <p:cNvPr id="16" name="Rectangle 15">
              <a:extLst>
                <a:ext uri="{FF2B5EF4-FFF2-40B4-BE49-F238E27FC236}">
                  <a16:creationId xmlns:a16="http://schemas.microsoft.com/office/drawing/2014/main" id="{9DBF9DE3-B60C-EC97-59D2-DD4ED7800FCC}"/>
                </a:ext>
              </a:extLst>
            </p:cNvPr>
            <p:cNvSpPr/>
            <p:nvPr/>
          </p:nvSpPr>
          <p:spPr>
            <a:xfrm>
              <a:off x="1800914" y="3190603"/>
              <a:ext cx="5312358" cy="42528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p>
          </p:txBody>
        </p:sp>
        <p:sp>
          <p:nvSpPr>
            <p:cNvPr id="17" name="TextBox 16">
              <a:extLst>
                <a:ext uri="{FF2B5EF4-FFF2-40B4-BE49-F238E27FC236}">
                  <a16:creationId xmlns:a16="http://schemas.microsoft.com/office/drawing/2014/main" id="{1EEC0A06-6E98-BB1C-C077-E52C9A323E26}"/>
                </a:ext>
              </a:extLst>
            </p:cNvPr>
            <p:cNvSpPr txBox="1"/>
            <p:nvPr/>
          </p:nvSpPr>
          <p:spPr>
            <a:xfrm>
              <a:off x="1800914" y="3199756"/>
              <a:ext cx="2138046" cy="485907"/>
            </a:xfrm>
            <a:prstGeom prst="rect">
              <a:avLst/>
            </a:prstGeom>
            <a:noFill/>
            <a:ln>
              <a:noFill/>
            </a:ln>
          </p:spPr>
          <p:txBody>
            <a:bodyPr wrap="none" rtlCol="0">
              <a:spAutoFit/>
            </a:bodyPr>
            <a:lstStyle/>
            <a:p>
              <a:r>
                <a:rPr lang="en-IN" sz="1000" b="1" dirty="0">
                  <a:solidFill>
                    <a:schemeClr val="bg1"/>
                  </a:solidFill>
                </a:rPr>
                <a:t>ASU Plan Impact Analysis</a:t>
              </a:r>
            </a:p>
          </p:txBody>
        </p:sp>
        <p:sp>
          <p:nvSpPr>
            <p:cNvPr id="18" name="TextBox 17">
              <a:extLst>
                <a:ext uri="{FF2B5EF4-FFF2-40B4-BE49-F238E27FC236}">
                  <a16:creationId xmlns:a16="http://schemas.microsoft.com/office/drawing/2014/main" id="{DBC00748-16BD-5B6C-DC05-3138493F2A29}"/>
                </a:ext>
              </a:extLst>
            </p:cNvPr>
            <p:cNvSpPr txBox="1"/>
            <p:nvPr/>
          </p:nvSpPr>
          <p:spPr>
            <a:xfrm>
              <a:off x="1800917" y="3406551"/>
              <a:ext cx="4647964" cy="425170"/>
            </a:xfrm>
            <a:prstGeom prst="rect">
              <a:avLst/>
            </a:prstGeom>
            <a:noFill/>
            <a:ln>
              <a:noFill/>
            </a:ln>
          </p:spPr>
          <p:txBody>
            <a:bodyPr wrap="square" rtlCol="0">
              <a:spAutoFit/>
            </a:bodyPr>
            <a:lstStyle/>
            <a:p>
              <a:endParaRPr lang="en-IN" sz="800" dirty="0">
                <a:solidFill>
                  <a:schemeClr val="bg1"/>
                </a:solidFill>
              </a:endParaRPr>
            </a:p>
          </p:txBody>
        </p:sp>
      </p:grpSp>
      <p:sp>
        <p:nvSpPr>
          <p:cNvPr id="23" name="Rectangle 22">
            <a:extLst>
              <a:ext uri="{FF2B5EF4-FFF2-40B4-BE49-F238E27FC236}">
                <a16:creationId xmlns:a16="http://schemas.microsoft.com/office/drawing/2014/main" id="{5F6FC30C-F1F0-D166-23D1-CDF65214569F}"/>
              </a:ext>
            </a:extLst>
          </p:cNvPr>
          <p:cNvSpPr/>
          <p:nvPr/>
        </p:nvSpPr>
        <p:spPr>
          <a:xfrm>
            <a:off x="1397435" y="1049500"/>
            <a:ext cx="1228725" cy="309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ASU Actuals</a:t>
            </a:r>
          </a:p>
        </p:txBody>
      </p:sp>
      <p:sp>
        <p:nvSpPr>
          <p:cNvPr id="24" name="Rectangle 23">
            <a:extLst>
              <a:ext uri="{FF2B5EF4-FFF2-40B4-BE49-F238E27FC236}">
                <a16:creationId xmlns:a16="http://schemas.microsoft.com/office/drawing/2014/main" id="{FBC673BE-7DF4-F48D-C886-8DAFA9E793DA}"/>
              </a:ext>
            </a:extLst>
          </p:cNvPr>
          <p:cNvSpPr/>
          <p:nvPr/>
        </p:nvSpPr>
        <p:spPr>
          <a:xfrm>
            <a:off x="3233755" y="1048986"/>
            <a:ext cx="1228725" cy="309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SR  Actuals</a:t>
            </a:r>
          </a:p>
        </p:txBody>
      </p:sp>
      <p:sp>
        <p:nvSpPr>
          <p:cNvPr id="25" name="Rectangle 24">
            <a:extLst>
              <a:ext uri="{FF2B5EF4-FFF2-40B4-BE49-F238E27FC236}">
                <a16:creationId xmlns:a16="http://schemas.microsoft.com/office/drawing/2014/main" id="{D2D77CCA-5CF2-8654-5BEE-4D8F1798018A}"/>
              </a:ext>
            </a:extLst>
          </p:cNvPr>
          <p:cNvSpPr/>
          <p:nvPr/>
        </p:nvSpPr>
        <p:spPr>
          <a:xfrm>
            <a:off x="5200622" y="1048578"/>
            <a:ext cx="1228725" cy="309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CPASU </a:t>
            </a:r>
          </a:p>
        </p:txBody>
      </p:sp>
      <p:sp>
        <p:nvSpPr>
          <p:cNvPr id="26" name="Rectangle 25">
            <a:extLst>
              <a:ext uri="{FF2B5EF4-FFF2-40B4-BE49-F238E27FC236}">
                <a16:creationId xmlns:a16="http://schemas.microsoft.com/office/drawing/2014/main" id="{4D9E6CF0-08F5-B7E1-7131-B9A4D109983B}"/>
              </a:ext>
            </a:extLst>
          </p:cNvPr>
          <p:cNvSpPr/>
          <p:nvPr/>
        </p:nvSpPr>
        <p:spPr>
          <a:xfrm>
            <a:off x="7139082" y="1011725"/>
            <a:ext cx="1228725" cy="309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Current UCR</a:t>
            </a:r>
          </a:p>
        </p:txBody>
      </p:sp>
      <p:sp>
        <p:nvSpPr>
          <p:cNvPr id="27" name="Rectangle 26">
            <a:extLst>
              <a:ext uri="{FF2B5EF4-FFF2-40B4-BE49-F238E27FC236}">
                <a16:creationId xmlns:a16="http://schemas.microsoft.com/office/drawing/2014/main" id="{F27CE124-6D8C-20B3-6183-2547CB0D9CCB}"/>
              </a:ext>
            </a:extLst>
          </p:cNvPr>
          <p:cNvSpPr/>
          <p:nvPr/>
        </p:nvSpPr>
        <p:spPr>
          <a:xfrm>
            <a:off x="9324623" y="1011724"/>
            <a:ext cx="1228725" cy="309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UCR Impacted SR</a:t>
            </a:r>
          </a:p>
        </p:txBody>
      </p:sp>
      <p:sp>
        <p:nvSpPr>
          <p:cNvPr id="28" name="Rectangle 27">
            <a:extLst>
              <a:ext uri="{FF2B5EF4-FFF2-40B4-BE49-F238E27FC236}">
                <a16:creationId xmlns:a16="http://schemas.microsoft.com/office/drawing/2014/main" id="{70198CFF-D98F-13A4-4584-AA3C3C80F128}"/>
              </a:ext>
            </a:extLst>
          </p:cNvPr>
          <p:cNvSpPr/>
          <p:nvPr/>
        </p:nvSpPr>
        <p:spPr>
          <a:xfrm>
            <a:off x="1235511" y="1444617"/>
            <a:ext cx="1552575" cy="7092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 Trend line showcasing the actuals over year, </a:t>
            </a:r>
            <a:r>
              <a:rPr lang="en-IN" sz="1000" dirty="0" err="1"/>
              <a:t>quarter,month,week</a:t>
            </a:r>
            <a:br>
              <a:rPr lang="en-IN" sz="1000" dirty="0"/>
            </a:br>
            <a:endParaRPr lang="en-IN" sz="1000" dirty="0"/>
          </a:p>
        </p:txBody>
      </p:sp>
      <p:sp>
        <p:nvSpPr>
          <p:cNvPr id="29" name="Rectangle 28">
            <a:extLst>
              <a:ext uri="{FF2B5EF4-FFF2-40B4-BE49-F238E27FC236}">
                <a16:creationId xmlns:a16="http://schemas.microsoft.com/office/drawing/2014/main" id="{A97BC542-3D11-76C3-71ED-AC44034A5A39}"/>
              </a:ext>
            </a:extLst>
          </p:cNvPr>
          <p:cNvSpPr/>
          <p:nvPr/>
        </p:nvSpPr>
        <p:spPr>
          <a:xfrm>
            <a:off x="2929723" y="1444617"/>
            <a:ext cx="1753791" cy="7092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 Stacked </a:t>
            </a:r>
            <a:r>
              <a:rPr lang="en-IN" sz="800" dirty="0"/>
              <a:t>Column chart  showcasing the actuals handled by DB/OSP over year, quarter, month, week</a:t>
            </a:r>
          </a:p>
        </p:txBody>
      </p:sp>
      <p:sp>
        <p:nvSpPr>
          <p:cNvPr id="30" name="Rectangle 29">
            <a:extLst>
              <a:ext uri="{FF2B5EF4-FFF2-40B4-BE49-F238E27FC236}">
                <a16:creationId xmlns:a16="http://schemas.microsoft.com/office/drawing/2014/main" id="{BFF49CC2-1C4A-7AB6-AD2B-7DF695E7E21C}"/>
              </a:ext>
            </a:extLst>
          </p:cNvPr>
          <p:cNvSpPr/>
          <p:nvPr/>
        </p:nvSpPr>
        <p:spPr>
          <a:xfrm>
            <a:off x="4840505" y="1433821"/>
            <a:ext cx="1969891" cy="7200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 </a:t>
            </a:r>
            <a:r>
              <a:rPr lang="en-IN" sz="800" dirty="0"/>
              <a:t>Column and line chart combination showing SR and ASU in column while line shows CPASU number(dividing SR/ASU) over year ,quarter, </a:t>
            </a:r>
            <a:r>
              <a:rPr lang="en-IN" sz="800" dirty="0" err="1"/>
              <a:t>month,week</a:t>
            </a:r>
            <a:br>
              <a:rPr lang="en-IN" sz="1000" dirty="0"/>
            </a:br>
            <a:endParaRPr lang="en-IN" sz="1000" dirty="0"/>
          </a:p>
        </p:txBody>
      </p:sp>
      <p:sp>
        <p:nvSpPr>
          <p:cNvPr id="31" name="Rectangle 30">
            <a:extLst>
              <a:ext uri="{FF2B5EF4-FFF2-40B4-BE49-F238E27FC236}">
                <a16:creationId xmlns:a16="http://schemas.microsoft.com/office/drawing/2014/main" id="{417A0CEF-56E5-65FE-3D33-4F383851ADB4}"/>
              </a:ext>
            </a:extLst>
          </p:cNvPr>
          <p:cNvSpPr/>
          <p:nvPr/>
        </p:nvSpPr>
        <p:spPr>
          <a:xfrm>
            <a:off x="6967387" y="1424194"/>
            <a:ext cx="1969891" cy="746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800" dirty="0"/>
          </a:p>
          <a:p>
            <a:endParaRPr lang="en-IN" sz="800" dirty="0"/>
          </a:p>
          <a:p>
            <a:r>
              <a:rPr lang="en-IN" sz="800" dirty="0"/>
              <a:t>* Column and line chart combination showing current UCR and Target in column while line shows adherence  number(dividing current /Plan) over year ,quarter, </a:t>
            </a:r>
            <a:r>
              <a:rPr lang="en-IN" sz="800" dirty="0" err="1"/>
              <a:t>month,week</a:t>
            </a:r>
            <a:br>
              <a:rPr lang="en-IN" sz="1100" dirty="0"/>
            </a:br>
            <a:endParaRPr lang="en-IN" sz="1100" dirty="0"/>
          </a:p>
          <a:p>
            <a:r>
              <a:rPr lang="en-IN" sz="1000" dirty="0"/>
              <a:t> </a:t>
            </a:r>
          </a:p>
        </p:txBody>
      </p:sp>
      <p:sp>
        <p:nvSpPr>
          <p:cNvPr id="32" name="TextBox 31">
            <a:extLst>
              <a:ext uri="{FF2B5EF4-FFF2-40B4-BE49-F238E27FC236}">
                <a16:creationId xmlns:a16="http://schemas.microsoft.com/office/drawing/2014/main" id="{17141C86-C7C5-48B7-D2E8-667EA35F485D}"/>
              </a:ext>
            </a:extLst>
          </p:cNvPr>
          <p:cNvSpPr txBox="1"/>
          <p:nvPr/>
        </p:nvSpPr>
        <p:spPr>
          <a:xfrm>
            <a:off x="133561" y="1458580"/>
            <a:ext cx="944959" cy="553998"/>
          </a:xfrm>
          <a:prstGeom prst="rect">
            <a:avLst/>
          </a:prstGeom>
          <a:noFill/>
          <a:ln>
            <a:solidFill>
              <a:schemeClr val="accent1"/>
            </a:solidFill>
          </a:ln>
        </p:spPr>
        <p:txBody>
          <a:bodyPr wrap="square" rtlCol="0">
            <a:spAutoFit/>
          </a:bodyPr>
          <a:lstStyle/>
          <a:p>
            <a:r>
              <a:rPr lang="en-IN" sz="1000" dirty="0"/>
              <a:t>Drill down while click on the Cards</a:t>
            </a:r>
          </a:p>
        </p:txBody>
      </p:sp>
      <p:cxnSp>
        <p:nvCxnSpPr>
          <p:cNvPr id="33" name="Straight Arrow Connector 32">
            <a:extLst>
              <a:ext uri="{FF2B5EF4-FFF2-40B4-BE49-F238E27FC236}">
                <a16:creationId xmlns:a16="http://schemas.microsoft.com/office/drawing/2014/main" id="{D42C1496-389F-E961-A52E-D9CF28E3475F}"/>
              </a:ext>
            </a:extLst>
          </p:cNvPr>
          <p:cNvCxnSpPr>
            <a:cxnSpLocks/>
            <a:stCxn id="32" idx="3"/>
            <a:endCxn id="28" idx="1"/>
          </p:cNvCxnSpPr>
          <p:nvPr/>
        </p:nvCxnSpPr>
        <p:spPr>
          <a:xfrm flipV="1">
            <a:off x="1078520" y="1799236"/>
            <a:ext cx="156991" cy="69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7CB5D58B-D1E8-8218-7FC5-19EBAAA1A5ED}"/>
              </a:ext>
            </a:extLst>
          </p:cNvPr>
          <p:cNvSpPr/>
          <p:nvPr/>
        </p:nvSpPr>
        <p:spPr>
          <a:xfrm>
            <a:off x="9143589" y="1433821"/>
            <a:ext cx="1969891" cy="7308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800" dirty="0"/>
              <a:t>* Stack column chart with combination of actual SR + SR deflected over </a:t>
            </a:r>
            <a:r>
              <a:rPr lang="en-IN" sz="800" dirty="0" err="1"/>
              <a:t>over</a:t>
            </a:r>
            <a:r>
              <a:rPr lang="en-IN" sz="800" dirty="0"/>
              <a:t> year, </a:t>
            </a:r>
            <a:r>
              <a:rPr lang="en-IN" sz="800" dirty="0" err="1"/>
              <a:t>quarter,month,week</a:t>
            </a:r>
            <a:endParaRPr lang="en-IN" sz="800" dirty="0"/>
          </a:p>
        </p:txBody>
      </p:sp>
      <p:pic>
        <p:nvPicPr>
          <p:cNvPr id="35" name="Picture 34">
            <a:extLst>
              <a:ext uri="{FF2B5EF4-FFF2-40B4-BE49-F238E27FC236}">
                <a16:creationId xmlns:a16="http://schemas.microsoft.com/office/drawing/2014/main" id="{1E7CFE77-AEDB-D214-E443-CCC8672EA22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92585" y="64417"/>
            <a:ext cx="9146400" cy="647284"/>
          </a:xfrm>
          <a:prstGeom prst="rect">
            <a:avLst/>
          </a:prstGeom>
        </p:spPr>
      </p:pic>
      <p:sp>
        <p:nvSpPr>
          <p:cNvPr id="36" name="TextBox 35">
            <a:extLst>
              <a:ext uri="{FF2B5EF4-FFF2-40B4-BE49-F238E27FC236}">
                <a16:creationId xmlns:a16="http://schemas.microsoft.com/office/drawing/2014/main" id="{1C7D5084-F670-576B-612D-CFAD45E4B1D5}"/>
              </a:ext>
            </a:extLst>
          </p:cNvPr>
          <p:cNvSpPr txBox="1"/>
          <p:nvPr/>
        </p:nvSpPr>
        <p:spPr>
          <a:xfrm>
            <a:off x="64453" y="282147"/>
            <a:ext cx="593432" cy="400110"/>
          </a:xfrm>
          <a:prstGeom prst="rect">
            <a:avLst/>
          </a:prstGeom>
          <a:noFill/>
          <a:ln>
            <a:solidFill>
              <a:schemeClr val="accent1"/>
            </a:solidFill>
          </a:ln>
        </p:spPr>
        <p:txBody>
          <a:bodyPr wrap="square" rtlCol="0">
            <a:spAutoFit/>
          </a:bodyPr>
          <a:lstStyle/>
          <a:p>
            <a:r>
              <a:rPr lang="en-IN" sz="1000" dirty="0"/>
              <a:t>Filters pane</a:t>
            </a:r>
          </a:p>
        </p:txBody>
      </p:sp>
      <p:grpSp>
        <p:nvGrpSpPr>
          <p:cNvPr id="37" name="Group 36">
            <a:extLst>
              <a:ext uri="{FF2B5EF4-FFF2-40B4-BE49-F238E27FC236}">
                <a16:creationId xmlns:a16="http://schemas.microsoft.com/office/drawing/2014/main" id="{6521276A-2DAF-5758-6B1F-C36D1FA4A40F}"/>
              </a:ext>
            </a:extLst>
          </p:cNvPr>
          <p:cNvGrpSpPr/>
          <p:nvPr/>
        </p:nvGrpSpPr>
        <p:grpSpPr>
          <a:xfrm>
            <a:off x="10395283" y="2763506"/>
            <a:ext cx="1644019" cy="3970668"/>
            <a:chOff x="9761733" y="2815029"/>
            <a:chExt cx="2277570" cy="3919145"/>
          </a:xfrm>
        </p:grpSpPr>
        <p:sp>
          <p:nvSpPr>
            <p:cNvPr id="38" name="Rectangle 37">
              <a:extLst>
                <a:ext uri="{FF2B5EF4-FFF2-40B4-BE49-F238E27FC236}">
                  <a16:creationId xmlns:a16="http://schemas.microsoft.com/office/drawing/2014/main" id="{644E7862-AC80-42C1-60BD-8DB735D447C0}"/>
                </a:ext>
              </a:extLst>
            </p:cNvPr>
            <p:cNvSpPr/>
            <p:nvPr/>
          </p:nvSpPr>
          <p:spPr>
            <a:xfrm>
              <a:off x="9761733" y="2815029"/>
              <a:ext cx="2277570" cy="39191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000" dirty="0"/>
                <a:t>Read the dashboard and give AI generated RCA and there CLCA based on RCA in simple words</a:t>
              </a:r>
            </a:p>
          </p:txBody>
        </p:sp>
        <p:sp>
          <p:nvSpPr>
            <p:cNvPr id="39" name="TextBox 38">
              <a:extLst>
                <a:ext uri="{FF2B5EF4-FFF2-40B4-BE49-F238E27FC236}">
                  <a16:creationId xmlns:a16="http://schemas.microsoft.com/office/drawing/2014/main" id="{EE982510-2B61-E668-C72D-00E3B259A678}"/>
                </a:ext>
              </a:extLst>
            </p:cNvPr>
            <p:cNvSpPr txBox="1"/>
            <p:nvPr/>
          </p:nvSpPr>
          <p:spPr>
            <a:xfrm>
              <a:off x="9939384" y="2891486"/>
              <a:ext cx="1423210" cy="369332"/>
            </a:xfrm>
            <a:prstGeom prst="rect">
              <a:avLst/>
            </a:prstGeom>
            <a:noFill/>
          </p:spPr>
          <p:txBody>
            <a:bodyPr wrap="none" rtlCol="0">
              <a:spAutoFit/>
            </a:bodyPr>
            <a:lstStyle/>
            <a:p>
              <a:r>
                <a:rPr lang="en-IN" dirty="0">
                  <a:solidFill>
                    <a:schemeClr val="bg1"/>
                  </a:solidFill>
                </a:rPr>
                <a:t>RCA &amp; CLCA</a:t>
              </a:r>
            </a:p>
          </p:txBody>
        </p:sp>
      </p:grpSp>
      <p:grpSp>
        <p:nvGrpSpPr>
          <p:cNvPr id="40" name="Group 39">
            <a:extLst>
              <a:ext uri="{FF2B5EF4-FFF2-40B4-BE49-F238E27FC236}">
                <a16:creationId xmlns:a16="http://schemas.microsoft.com/office/drawing/2014/main" id="{12F33675-269A-EC6F-6CED-8F2EFFB45635}"/>
              </a:ext>
            </a:extLst>
          </p:cNvPr>
          <p:cNvGrpSpPr/>
          <p:nvPr/>
        </p:nvGrpSpPr>
        <p:grpSpPr>
          <a:xfrm>
            <a:off x="64453" y="4983754"/>
            <a:ext cx="3071110" cy="1874246"/>
            <a:chOff x="1643564" y="2736138"/>
            <a:chExt cx="5469708" cy="3333851"/>
          </a:xfrm>
        </p:grpSpPr>
        <p:sp>
          <p:nvSpPr>
            <p:cNvPr id="41" name="Rectangle 40">
              <a:extLst>
                <a:ext uri="{FF2B5EF4-FFF2-40B4-BE49-F238E27FC236}">
                  <a16:creationId xmlns:a16="http://schemas.microsoft.com/office/drawing/2014/main" id="{FA37ABD4-99C6-D7BA-E536-8F1FC61261F0}"/>
                </a:ext>
              </a:extLst>
            </p:cNvPr>
            <p:cNvSpPr/>
            <p:nvPr/>
          </p:nvSpPr>
          <p:spPr>
            <a:xfrm>
              <a:off x="1800914" y="2736138"/>
              <a:ext cx="5312358" cy="33338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p>
          </p:txBody>
        </p:sp>
        <p:sp>
          <p:nvSpPr>
            <p:cNvPr id="42" name="TextBox 41">
              <a:extLst>
                <a:ext uri="{FF2B5EF4-FFF2-40B4-BE49-F238E27FC236}">
                  <a16:creationId xmlns:a16="http://schemas.microsoft.com/office/drawing/2014/main" id="{149472AF-EA4A-5E32-F8F6-EA32ADE6A2EE}"/>
                </a:ext>
              </a:extLst>
            </p:cNvPr>
            <p:cNvSpPr txBox="1"/>
            <p:nvPr/>
          </p:nvSpPr>
          <p:spPr>
            <a:xfrm>
              <a:off x="1735543" y="2801659"/>
              <a:ext cx="2749864" cy="222497"/>
            </a:xfrm>
            <a:prstGeom prst="rect">
              <a:avLst/>
            </a:prstGeom>
            <a:noFill/>
            <a:ln>
              <a:noFill/>
            </a:ln>
          </p:spPr>
          <p:txBody>
            <a:bodyPr wrap="none" rtlCol="0">
              <a:spAutoFit/>
            </a:bodyPr>
            <a:lstStyle/>
            <a:p>
              <a:r>
                <a:rPr lang="en-IN" sz="1000" b="1" dirty="0">
                  <a:solidFill>
                    <a:schemeClr val="bg1"/>
                  </a:solidFill>
                </a:rPr>
                <a:t>ASU Actual vs Plan with Adherence</a:t>
              </a:r>
            </a:p>
          </p:txBody>
        </p:sp>
        <p:sp>
          <p:nvSpPr>
            <p:cNvPr id="43" name="TextBox 42">
              <a:extLst>
                <a:ext uri="{FF2B5EF4-FFF2-40B4-BE49-F238E27FC236}">
                  <a16:creationId xmlns:a16="http://schemas.microsoft.com/office/drawing/2014/main" id="{6CABC92D-B533-1253-550A-C52EAABB01FE}"/>
                </a:ext>
              </a:extLst>
            </p:cNvPr>
            <p:cNvSpPr txBox="1"/>
            <p:nvPr/>
          </p:nvSpPr>
          <p:spPr>
            <a:xfrm>
              <a:off x="1643564" y="3396956"/>
              <a:ext cx="5312359" cy="1478152"/>
            </a:xfrm>
            <a:prstGeom prst="rect">
              <a:avLst/>
            </a:prstGeom>
            <a:noFill/>
            <a:ln>
              <a:noFill/>
            </a:ln>
          </p:spPr>
          <p:txBody>
            <a:bodyPr wrap="square" rtlCol="0">
              <a:spAutoFit/>
            </a:bodyPr>
            <a:lstStyle/>
            <a:p>
              <a:r>
                <a:rPr lang="en-US" sz="800" dirty="0">
                  <a:solidFill>
                    <a:schemeClr val="bg1"/>
                  </a:solidFill>
                </a:rPr>
                <a:t>How the visual should look?</a:t>
              </a:r>
              <a:br>
                <a:rPr lang="en-US" sz="800" dirty="0">
                  <a:solidFill>
                    <a:schemeClr val="bg1"/>
                  </a:solidFill>
                </a:rPr>
              </a:br>
              <a:r>
                <a:rPr lang="en-US" sz="800" dirty="0">
                  <a:solidFill>
                    <a:schemeClr val="bg1"/>
                  </a:solidFill>
                </a:rPr>
                <a:t>Column chart with actuals and Plan  in columns and adherence  % in line based on Fiscal Year, </a:t>
              </a:r>
              <a:r>
                <a:rPr lang="en-US" sz="800" dirty="0" err="1">
                  <a:solidFill>
                    <a:schemeClr val="bg1"/>
                  </a:solidFill>
                </a:rPr>
                <a:t>quarter,month,week</a:t>
              </a:r>
              <a:r>
                <a:rPr lang="en-US" sz="800" dirty="0">
                  <a:solidFill>
                    <a:schemeClr val="bg1"/>
                  </a:solidFill>
                </a:rPr>
                <a:t> and should change according to the filters above.</a:t>
              </a:r>
            </a:p>
            <a:p>
              <a:br>
                <a:rPr lang="en-IN" sz="800" dirty="0">
                  <a:solidFill>
                    <a:schemeClr val="bg1"/>
                  </a:solidFill>
                </a:rPr>
              </a:br>
              <a:endParaRPr lang="en-IN" sz="800" dirty="0">
                <a:solidFill>
                  <a:schemeClr val="bg1"/>
                </a:solidFill>
              </a:endParaRPr>
            </a:p>
          </p:txBody>
        </p:sp>
      </p:grpSp>
      <p:sp>
        <p:nvSpPr>
          <p:cNvPr id="44" name="TextBox 43">
            <a:extLst>
              <a:ext uri="{FF2B5EF4-FFF2-40B4-BE49-F238E27FC236}">
                <a16:creationId xmlns:a16="http://schemas.microsoft.com/office/drawing/2014/main" id="{F41E6DAB-0692-1B93-96D3-DE0299F5039E}"/>
              </a:ext>
            </a:extLst>
          </p:cNvPr>
          <p:cNvSpPr txBox="1"/>
          <p:nvPr/>
        </p:nvSpPr>
        <p:spPr>
          <a:xfrm>
            <a:off x="152697" y="4668372"/>
            <a:ext cx="660758" cy="246221"/>
          </a:xfrm>
          <a:prstGeom prst="rect">
            <a:avLst/>
          </a:prstGeom>
          <a:noFill/>
          <a:ln>
            <a:solidFill>
              <a:schemeClr val="accent1"/>
            </a:solidFill>
          </a:ln>
        </p:spPr>
        <p:txBody>
          <a:bodyPr wrap="none" rtlCol="0">
            <a:spAutoFit/>
          </a:bodyPr>
          <a:lstStyle/>
          <a:p>
            <a:r>
              <a:rPr lang="en-IN" sz="1000" dirty="0"/>
              <a:t>SR Layer</a:t>
            </a:r>
          </a:p>
        </p:txBody>
      </p:sp>
      <p:grpSp>
        <p:nvGrpSpPr>
          <p:cNvPr id="45" name="Group 44">
            <a:extLst>
              <a:ext uri="{FF2B5EF4-FFF2-40B4-BE49-F238E27FC236}">
                <a16:creationId xmlns:a16="http://schemas.microsoft.com/office/drawing/2014/main" id="{E9A09645-0675-71D2-0B3C-2AA2E8360C6E}"/>
              </a:ext>
            </a:extLst>
          </p:cNvPr>
          <p:cNvGrpSpPr/>
          <p:nvPr/>
        </p:nvGrpSpPr>
        <p:grpSpPr>
          <a:xfrm>
            <a:off x="3352695" y="4983754"/>
            <a:ext cx="2566842" cy="1809829"/>
            <a:chOff x="1752541" y="3190603"/>
            <a:chExt cx="5360731" cy="2491501"/>
          </a:xfrm>
        </p:grpSpPr>
        <p:sp>
          <p:nvSpPr>
            <p:cNvPr id="46" name="Rectangle 45">
              <a:extLst>
                <a:ext uri="{FF2B5EF4-FFF2-40B4-BE49-F238E27FC236}">
                  <a16:creationId xmlns:a16="http://schemas.microsoft.com/office/drawing/2014/main" id="{B3F6B7D4-2BD2-158C-F2B0-75D1E26A64FD}"/>
                </a:ext>
              </a:extLst>
            </p:cNvPr>
            <p:cNvSpPr/>
            <p:nvPr/>
          </p:nvSpPr>
          <p:spPr>
            <a:xfrm>
              <a:off x="1800914" y="3190603"/>
              <a:ext cx="5312358" cy="24915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000" dirty="0"/>
            </a:p>
          </p:txBody>
        </p:sp>
        <p:sp>
          <p:nvSpPr>
            <p:cNvPr id="47" name="TextBox 46">
              <a:extLst>
                <a:ext uri="{FF2B5EF4-FFF2-40B4-BE49-F238E27FC236}">
                  <a16:creationId xmlns:a16="http://schemas.microsoft.com/office/drawing/2014/main" id="{03874ED1-0888-1418-3024-DDC370E23DC6}"/>
                </a:ext>
              </a:extLst>
            </p:cNvPr>
            <p:cNvSpPr txBox="1"/>
            <p:nvPr/>
          </p:nvSpPr>
          <p:spPr>
            <a:xfrm>
              <a:off x="1800914" y="3199755"/>
              <a:ext cx="3827202" cy="287433"/>
            </a:xfrm>
            <a:prstGeom prst="rect">
              <a:avLst/>
            </a:prstGeom>
            <a:noFill/>
            <a:ln>
              <a:noFill/>
            </a:ln>
          </p:spPr>
          <p:txBody>
            <a:bodyPr wrap="none" rtlCol="0">
              <a:spAutoFit/>
            </a:bodyPr>
            <a:lstStyle/>
            <a:p>
              <a:r>
                <a:rPr lang="en-IN" sz="1000" b="1" dirty="0">
                  <a:solidFill>
                    <a:schemeClr val="bg1"/>
                  </a:solidFill>
                </a:rPr>
                <a:t>SR Plan on Plan Comparison</a:t>
              </a:r>
            </a:p>
          </p:txBody>
        </p:sp>
        <p:sp>
          <p:nvSpPr>
            <p:cNvPr id="48" name="TextBox 47">
              <a:extLst>
                <a:ext uri="{FF2B5EF4-FFF2-40B4-BE49-F238E27FC236}">
                  <a16:creationId xmlns:a16="http://schemas.microsoft.com/office/drawing/2014/main" id="{384E17E4-1867-BDC4-45CA-D40B87927CBB}"/>
                </a:ext>
              </a:extLst>
            </p:cNvPr>
            <p:cNvSpPr txBox="1"/>
            <p:nvPr/>
          </p:nvSpPr>
          <p:spPr>
            <a:xfrm>
              <a:off x="1752541" y="3623621"/>
              <a:ext cx="5312358" cy="974511"/>
            </a:xfrm>
            <a:prstGeom prst="rect">
              <a:avLst/>
            </a:prstGeom>
            <a:noFill/>
            <a:ln>
              <a:noFill/>
            </a:ln>
          </p:spPr>
          <p:txBody>
            <a:bodyPr wrap="square" rtlCol="0">
              <a:spAutoFit/>
            </a:bodyPr>
            <a:lstStyle/>
            <a:p>
              <a:r>
                <a:rPr lang="en-US" sz="800" dirty="0">
                  <a:solidFill>
                    <a:schemeClr val="bg1"/>
                  </a:solidFill>
                </a:rPr>
                <a:t>How the visual should look?</a:t>
              </a:r>
              <a:br>
                <a:rPr lang="en-US" sz="800" dirty="0">
                  <a:solidFill>
                    <a:schemeClr val="bg1"/>
                  </a:solidFill>
                </a:rPr>
              </a:br>
              <a:r>
                <a:rPr lang="en-US" sz="800" dirty="0">
                  <a:solidFill>
                    <a:schemeClr val="bg1"/>
                  </a:solidFill>
                </a:rPr>
                <a:t>Column chart with Plan 1 and Plan 2 in columns and variance % in line based on Fiscal Year, </a:t>
              </a:r>
              <a:r>
                <a:rPr lang="en-US" sz="800" dirty="0" err="1">
                  <a:solidFill>
                    <a:schemeClr val="bg1"/>
                  </a:solidFill>
                </a:rPr>
                <a:t>quarter,month,week</a:t>
              </a:r>
              <a:r>
                <a:rPr lang="en-US" sz="800" dirty="0">
                  <a:solidFill>
                    <a:schemeClr val="bg1"/>
                  </a:solidFill>
                </a:rPr>
                <a:t> and should change according to the filters above.</a:t>
              </a:r>
            </a:p>
          </p:txBody>
        </p:sp>
      </p:grpSp>
      <p:grpSp>
        <p:nvGrpSpPr>
          <p:cNvPr id="49" name="Group 48">
            <a:extLst>
              <a:ext uri="{FF2B5EF4-FFF2-40B4-BE49-F238E27FC236}">
                <a16:creationId xmlns:a16="http://schemas.microsoft.com/office/drawing/2014/main" id="{6C7382A1-39C7-D648-1757-1CCBAE568E4F}"/>
              </a:ext>
            </a:extLst>
          </p:cNvPr>
          <p:cNvGrpSpPr/>
          <p:nvPr/>
        </p:nvGrpSpPr>
        <p:grpSpPr>
          <a:xfrm>
            <a:off x="6079904" y="4674371"/>
            <a:ext cx="4155012" cy="2155003"/>
            <a:chOff x="1800914" y="3190603"/>
            <a:chExt cx="5312358" cy="4252814"/>
          </a:xfrm>
        </p:grpSpPr>
        <p:sp>
          <p:nvSpPr>
            <p:cNvPr id="50" name="Rectangle 49">
              <a:extLst>
                <a:ext uri="{FF2B5EF4-FFF2-40B4-BE49-F238E27FC236}">
                  <a16:creationId xmlns:a16="http://schemas.microsoft.com/office/drawing/2014/main" id="{B0F2061D-81CB-1F1D-E1F3-FBC905B17383}"/>
                </a:ext>
              </a:extLst>
            </p:cNvPr>
            <p:cNvSpPr/>
            <p:nvPr/>
          </p:nvSpPr>
          <p:spPr>
            <a:xfrm>
              <a:off x="1800914" y="3190603"/>
              <a:ext cx="5312358" cy="42528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bg1"/>
                  </a:solidFill>
                </a:rPr>
                <a:t>How the visual should look?</a:t>
              </a:r>
            </a:p>
            <a:p>
              <a:r>
                <a:rPr lang="en-US" sz="1000" dirty="0">
                  <a:solidFill>
                    <a:schemeClr val="bg1"/>
                  </a:solidFill>
                </a:rPr>
                <a:t>Graph should show in which region(AMER,EMEA,APJ) in columns and when clicked on particular </a:t>
              </a:r>
              <a:r>
                <a:rPr lang="en-US" sz="1000" dirty="0" err="1">
                  <a:solidFill>
                    <a:schemeClr val="bg1"/>
                  </a:solidFill>
                </a:rPr>
                <a:t>regionthe</a:t>
              </a:r>
              <a:r>
                <a:rPr lang="en-US" sz="1000" dirty="0">
                  <a:solidFill>
                    <a:schemeClr val="bg1"/>
                  </a:solidFill>
                </a:rPr>
                <a:t> LOB'S contributed to the drop should be </a:t>
              </a:r>
              <a:r>
                <a:rPr lang="en-US" sz="1000" dirty="0" err="1">
                  <a:solidFill>
                    <a:schemeClr val="bg1"/>
                  </a:solidFill>
                </a:rPr>
                <a:t>shown.On</a:t>
              </a:r>
              <a:r>
                <a:rPr lang="en-US" sz="1000" dirty="0">
                  <a:solidFill>
                    <a:schemeClr val="bg1"/>
                  </a:solidFill>
                </a:rPr>
                <a:t> top right corner there should be two options to select Plan namely Plan A and Plan </a:t>
              </a:r>
              <a:r>
                <a:rPr lang="en-US" sz="1000" dirty="0" err="1">
                  <a:solidFill>
                    <a:schemeClr val="bg1"/>
                  </a:solidFill>
                </a:rPr>
                <a:t>B.So</a:t>
              </a:r>
              <a:r>
                <a:rPr lang="en-US" sz="1000" dirty="0">
                  <a:solidFill>
                    <a:schemeClr val="bg1"/>
                  </a:solidFill>
                </a:rPr>
                <a:t> basically the graph should look like two columns for Plan A  and Plan B and then these three regions in x-axis.</a:t>
              </a:r>
              <a:endParaRPr lang="en-US" sz="1000" dirty="0">
                <a:solidFill>
                  <a:schemeClr val="bg1"/>
                </a:solidFill>
                <a:latin typeface="Aptos Narrow" panose="020B0004020202020204" pitchFamily="34" charset="0"/>
              </a:endParaRPr>
            </a:p>
            <a:p>
              <a:endParaRPr lang="en-IN" sz="1000" dirty="0"/>
            </a:p>
          </p:txBody>
        </p:sp>
        <p:sp>
          <p:nvSpPr>
            <p:cNvPr id="51" name="TextBox 50">
              <a:extLst>
                <a:ext uri="{FF2B5EF4-FFF2-40B4-BE49-F238E27FC236}">
                  <a16:creationId xmlns:a16="http://schemas.microsoft.com/office/drawing/2014/main" id="{84A9F9FC-8A92-2041-2695-DCD5251DFAB6}"/>
                </a:ext>
              </a:extLst>
            </p:cNvPr>
            <p:cNvSpPr txBox="1"/>
            <p:nvPr/>
          </p:nvSpPr>
          <p:spPr>
            <a:xfrm>
              <a:off x="1800914" y="3199756"/>
              <a:ext cx="2025323" cy="485907"/>
            </a:xfrm>
            <a:prstGeom prst="rect">
              <a:avLst/>
            </a:prstGeom>
            <a:noFill/>
            <a:ln>
              <a:noFill/>
            </a:ln>
          </p:spPr>
          <p:txBody>
            <a:bodyPr wrap="none" rtlCol="0">
              <a:spAutoFit/>
            </a:bodyPr>
            <a:lstStyle/>
            <a:p>
              <a:r>
                <a:rPr lang="en-IN" sz="1000" b="1" dirty="0">
                  <a:solidFill>
                    <a:schemeClr val="bg1"/>
                  </a:solidFill>
                </a:rPr>
                <a:t>SR Plan Impact Analysis</a:t>
              </a:r>
            </a:p>
          </p:txBody>
        </p:sp>
      </p:grpSp>
      <p:sp>
        <p:nvSpPr>
          <p:cNvPr id="12" name="TextBox 11">
            <a:extLst>
              <a:ext uri="{FF2B5EF4-FFF2-40B4-BE49-F238E27FC236}">
                <a16:creationId xmlns:a16="http://schemas.microsoft.com/office/drawing/2014/main" id="{6EA75BCA-1B90-1325-3F7E-861D54F0F544}"/>
              </a:ext>
            </a:extLst>
          </p:cNvPr>
          <p:cNvSpPr txBox="1"/>
          <p:nvPr/>
        </p:nvSpPr>
        <p:spPr>
          <a:xfrm>
            <a:off x="6120859" y="2789341"/>
            <a:ext cx="3818126" cy="1569660"/>
          </a:xfrm>
          <a:prstGeom prst="rect">
            <a:avLst/>
          </a:prstGeom>
          <a:noFill/>
        </p:spPr>
        <p:txBody>
          <a:bodyPr wrap="square">
            <a:spAutoFit/>
          </a:bodyPr>
          <a:lstStyle/>
          <a:p>
            <a:r>
              <a:rPr lang="en-US" sz="1200" dirty="0">
                <a:solidFill>
                  <a:schemeClr val="bg1"/>
                </a:solidFill>
              </a:rPr>
              <a:t>How the visual should look?</a:t>
            </a:r>
          </a:p>
          <a:p>
            <a:r>
              <a:rPr lang="en-US" sz="1200" dirty="0">
                <a:solidFill>
                  <a:schemeClr val="bg1"/>
                </a:solidFill>
              </a:rPr>
              <a:t>Graph should show in which region(AMER,EMEA,APJ) in columns and when clicked on particular </a:t>
            </a:r>
            <a:r>
              <a:rPr lang="en-US" sz="1200" dirty="0" err="1">
                <a:solidFill>
                  <a:schemeClr val="bg1"/>
                </a:solidFill>
              </a:rPr>
              <a:t>regionthe</a:t>
            </a:r>
            <a:r>
              <a:rPr lang="en-US" sz="1200" dirty="0">
                <a:solidFill>
                  <a:schemeClr val="bg1"/>
                </a:solidFill>
              </a:rPr>
              <a:t> LOB'S contributed to the drop should be </a:t>
            </a:r>
            <a:r>
              <a:rPr lang="en-US" sz="1200" dirty="0" err="1">
                <a:solidFill>
                  <a:schemeClr val="bg1"/>
                </a:solidFill>
              </a:rPr>
              <a:t>shown.On</a:t>
            </a:r>
            <a:r>
              <a:rPr lang="en-US" sz="1200" dirty="0">
                <a:solidFill>
                  <a:schemeClr val="bg1"/>
                </a:solidFill>
              </a:rPr>
              <a:t> top right corner there should be two options to select Plan namely Plan A and Plan </a:t>
            </a:r>
            <a:r>
              <a:rPr lang="en-US" sz="1200" dirty="0" err="1">
                <a:solidFill>
                  <a:schemeClr val="bg1"/>
                </a:solidFill>
              </a:rPr>
              <a:t>B.So</a:t>
            </a:r>
            <a:r>
              <a:rPr lang="en-US" sz="1200" dirty="0">
                <a:solidFill>
                  <a:schemeClr val="bg1"/>
                </a:solidFill>
              </a:rPr>
              <a:t> basically the graph should look like two columns for Plan A  and Plan B and then these three regions in x-axis.</a:t>
            </a:r>
            <a:endParaRPr lang="en-US" sz="1200" dirty="0">
              <a:solidFill>
                <a:schemeClr val="bg1"/>
              </a:solidFill>
              <a:latin typeface="Aptos Narrow" panose="020B0004020202020204" pitchFamily="34" charset="0"/>
            </a:endParaRPr>
          </a:p>
        </p:txBody>
      </p:sp>
    </p:spTree>
    <p:extLst>
      <p:ext uri="{BB962C8B-B14F-4D97-AF65-F5344CB8AC3E}">
        <p14:creationId xmlns:p14="http://schemas.microsoft.com/office/powerpoint/2010/main" val="1417126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36B658-FDEB-B68B-9252-A2CD2702EC9D}"/>
              </a:ext>
            </a:extLst>
          </p:cNvPr>
          <p:cNvSpPr txBox="1"/>
          <p:nvPr/>
        </p:nvSpPr>
        <p:spPr>
          <a:xfrm>
            <a:off x="265176" y="320040"/>
            <a:ext cx="1280160" cy="369332"/>
          </a:xfrm>
          <a:prstGeom prst="rect">
            <a:avLst/>
          </a:prstGeom>
          <a:noFill/>
        </p:spPr>
        <p:txBody>
          <a:bodyPr wrap="square" rtlCol="0">
            <a:spAutoFit/>
          </a:bodyPr>
          <a:lstStyle/>
          <a:p>
            <a:r>
              <a:rPr lang="en-US" dirty="0"/>
              <a:t>Layer 3</a:t>
            </a:r>
          </a:p>
        </p:txBody>
      </p:sp>
      <p:sp>
        <p:nvSpPr>
          <p:cNvPr id="4" name="TextBox 3">
            <a:extLst>
              <a:ext uri="{FF2B5EF4-FFF2-40B4-BE49-F238E27FC236}">
                <a16:creationId xmlns:a16="http://schemas.microsoft.com/office/drawing/2014/main" id="{3032F43A-2D55-30A3-E966-7EF5C73B1DA0}"/>
              </a:ext>
            </a:extLst>
          </p:cNvPr>
          <p:cNvSpPr txBox="1"/>
          <p:nvPr/>
        </p:nvSpPr>
        <p:spPr>
          <a:xfrm>
            <a:off x="265176" y="624840"/>
            <a:ext cx="1426464" cy="738664"/>
          </a:xfrm>
          <a:prstGeom prst="rect">
            <a:avLst/>
          </a:prstGeom>
          <a:noFill/>
        </p:spPr>
        <p:txBody>
          <a:bodyPr wrap="square" rtlCol="0">
            <a:spAutoFit/>
          </a:bodyPr>
          <a:lstStyle/>
          <a:p>
            <a:r>
              <a:rPr lang="en-US" sz="1400" dirty="0"/>
              <a:t>Layer name- ASU impact on  SR Trend</a:t>
            </a:r>
          </a:p>
        </p:txBody>
      </p:sp>
      <p:sp>
        <p:nvSpPr>
          <p:cNvPr id="5" name="TextBox 4">
            <a:extLst>
              <a:ext uri="{FF2B5EF4-FFF2-40B4-BE49-F238E27FC236}">
                <a16:creationId xmlns:a16="http://schemas.microsoft.com/office/drawing/2014/main" id="{94E1B740-33CD-3834-3F8E-5638F6C67B60}"/>
              </a:ext>
            </a:extLst>
          </p:cNvPr>
          <p:cNvSpPr txBox="1"/>
          <p:nvPr/>
        </p:nvSpPr>
        <p:spPr>
          <a:xfrm>
            <a:off x="1944624" y="320040"/>
            <a:ext cx="2810256" cy="276999"/>
          </a:xfrm>
          <a:prstGeom prst="rect">
            <a:avLst/>
          </a:prstGeom>
          <a:noFill/>
        </p:spPr>
        <p:txBody>
          <a:bodyPr wrap="square" rtlCol="0">
            <a:spAutoFit/>
          </a:bodyPr>
          <a:lstStyle/>
          <a:p>
            <a:r>
              <a:rPr lang="en-US" sz="1200" dirty="0"/>
              <a:t>ASU impact on  SR Trend with CPASU</a:t>
            </a:r>
          </a:p>
        </p:txBody>
      </p:sp>
      <p:sp>
        <p:nvSpPr>
          <p:cNvPr id="6" name="TextBox 5">
            <a:extLst>
              <a:ext uri="{FF2B5EF4-FFF2-40B4-BE49-F238E27FC236}">
                <a16:creationId xmlns:a16="http://schemas.microsoft.com/office/drawing/2014/main" id="{4B64B684-44E3-745F-4DB3-7480E9173211}"/>
              </a:ext>
            </a:extLst>
          </p:cNvPr>
          <p:cNvSpPr txBox="1"/>
          <p:nvPr/>
        </p:nvSpPr>
        <p:spPr>
          <a:xfrm>
            <a:off x="2077461" y="689372"/>
            <a:ext cx="2485395" cy="1631216"/>
          </a:xfrm>
          <a:prstGeom prst="rect">
            <a:avLst/>
          </a:prstGeom>
          <a:noFill/>
        </p:spPr>
        <p:txBody>
          <a:bodyPr wrap="square">
            <a:spAutoFit/>
          </a:bodyPr>
          <a:lstStyle/>
          <a:p>
            <a:r>
              <a:rPr lang="en-US" sz="1000" dirty="0"/>
              <a:t>How the visual should look?</a:t>
            </a:r>
          </a:p>
          <a:p>
            <a:r>
              <a:rPr lang="en-US" sz="1000" dirty="0"/>
              <a:t>ASU  and SR actuals in column chart and CPASU(SR/ASU) in line chart based on Fiscal Year, </a:t>
            </a:r>
            <a:r>
              <a:rPr lang="en-US" sz="1000" dirty="0" err="1"/>
              <a:t>quarter,month,week</a:t>
            </a:r>
            <a:r>
              <a:rPr lang="en-US" sz="1000" dirty="0"/>
              <a:t>(restrict only for  FY25,FY26,FY27 similarly for fiscal quarter and week and should change according to the filters </a:t>
            </a:r>
            <a:r>
              <a:rPr lang="en-US" sz="1000" dirty="0" err="1"/>
              <a:t>above.A</a:t>
            </a:r>
            <a:r>
              <a:rPr lang="en-US" sz="1000" dirty="0"/>
              <a:t> toggle on the top right corner with region and country so when a user clicks on the country it should appear country wise </a:t>
            </a:r>
          </a:p>
        </p:txBody>
      </p:sp>
      <p:sp>
        <p:nvSpPr>
          <p:cNvPr id="7" name="TextBox 6">
            <a:extLst>
              <a:ext uri="{FF2B5EF4-FFF2-40B4-BE49-F238E27FC236}">
                <a16:creationId xmlns:a16="http://schemas.microsoft.com/office/drawing/2014/main" id="{C82C9A57-1377-C84E-F3B8-56405F2B5862}"/>
              </a:ext>
            </a:extLst>
          </p:cNvPr>
          <p:cNvSpPr txBox="1"/>
          <p:nvPr/>
        </p:nvSpPr>
        <p:spPr>
          <a:xfrm>
            <a:off x="5001768" y="317063"/>
            <a:ext cx="3057144" cy="307777"/>
          </a:xfrm>
          <a:prstGeom prst="rect">
            <a:avLst/>
          </a:prstGeom>
          <a:noFill/>
        </p:spPr>
        <p:txBody>
          <a:bodyPr wrap="square" rtlCol="0">
            <a:spAutoFit/>
          </a:bodyPr>
          <a:lstStyle/>
          <a:p>
            <a:r>
              <a:rPr lang="en-US" sz="1400" dirty="0"/>
              <a:t>UCR Impact on SR</a:t>
            </a:r>
          </a:p>
        </p:txBody>
      </p:sp>
      <p:sp>
        <p:nvSpPr>
          <p:cNvPr id="8" name="TextBox 7">
            <a:extLst>
              <a:ext uri="{FF2B5EF4-FFF2-40B4-BE49-F238E27FC236}">
                <a16:creationId xmlns:a16="http://schemas.microsoft.com/office/drawing/2014/main" id="{628F559C-D856-A6A2-5EAD-0863B0E24314}"/>
              </a:ext>
            </a:extLst>
          </p:cNvPr>
          <p:cNvSpPr txBox="1"/>
          <p:nvPr/>
        </p:nvSpPr>
        <p:spPr>
          <a:xfrm>
            <a:off x="4754880" y="689372"/>
            <a:ext cx="2485395" cy="1785104"/>
          </a:xfrm>
          <a:prstGeom prst="rect">
            <a:avLst/>
          </a:prstGeom>
          <a:noFill/>
        </p:spPr>
        <p:txBody>
          <a:bodyPr wrap="square">
            <a:spAutoFit/>
          </a:bodyPr>
          <a:lstStyle/>
          <a:p>
            <a:r>
              <a:rPr lang="en-US" sz="1000" dirty="0"/>
              <a:t>How the visual should look?</a:t>
            </a:r>
          </a:p>
          <a:p>
            <a:r>
              <a:rPr lang="en-US" sz="1000" dirty="0"/>
              <a:t>SR (Total SR’s and SR’s handled by Bots) so basically for example if there are 10 total SR and if 4 are handled by BOTS it should show that distribution in single column and in another column, it should show SR plan. based on Fiscal Year, </a:t>
            </a:r>
            <a:r>
              <a:rPr lang="en-US" sz="1000" dirty="0" err="1"/>
              <a:t>quarter,month,week</a:t>
            </a:r>
            <a:r>
              <a:rPr lang="en-US" sz="1000" dirty="0"/>
              <a:t>(restrict only for  FY25,FY26,FY27 similarly for fiscal quarter and week and should change according to the filters above</a:t>
            </a:r>
          </a:p>
        </p:txBody>
      </p:sp>
      <p:sp>
        <p:nvSpPr>
          <p:cNvPr id="9" name="TextBox 8">
            <a:extLst>
              <a:ext uri="{FF2B5EF4-FFF2-40B4-BE49-F238E27FC236}">
                <a16:creationId xmlns:a16="http://schemas.microsoft.com/office/drawing/2014/main" id="{4ABEDFF2-65AE-F23B-4CC0-41E5B5B875B8}"/>
              </a:ext>
            </a:extLst>
          </p:cNvPr>
          <p:cNvSpPr txBox="1"/>
          <p:nvPr/>
        </p:nvSpPr>
        <p:spPr>
          <a:xfrm>
            <a:off x="7952232" y="317062"/>
            <a:ext cx="3057144" cy="307777"/>
          </a:xfrm>
          <a:prstGeom prst="rect">
            <a:avLst/>
          </a:prstGeom>
          <a:noFill/>
        </p:spPr>
        <p:txBody>
          <a:bodyPr wrap="square" rtlCol="0">
            <a:spAutoFit/>
          </a:bodyPr>
          <a:lstStyle/>
          <a:p>
            <a:r>
              <a:rPr lang="en-US" sz="1400" dirty="0"/>
              <a:t>UCR </a:t>
            </a:r>
            <a:r>
              <a:rPr lang="en-US" sz="1400" dirty="0" err="1"/>
              <a:t>runrate</a:t>
            </a:r>
            <a:r>
              <a:rPr lang="en-US" sz="1400" dirty="0"/>
              <a:t> with target</a:t>
            </a:r>
          </a:p>
        </p:txBody>
      </p:sp>
      <p:sp>
        <p:nvSpPr>
          <p:cNvPr id="11" name="TextBox 10">
            <a:extLst>
              <a:ext uri="{FF2B5EF4-FFF2-40B4-BE49-F238E27FC236}">
                <a16:creationId xmlns:a16="http://schemas.microsoft.com/office/drawing/2014/main" id="{97A69F70-97D8-D878-FAA3-184C29D7F13B}"/>
              </a:ext>
            </a:extLst>
          </p:cNvPr>
          <p:cNvSpPr txBox="1"/>
          <p:nvPr/>
        </p:nvSpPr>
        <p:spPr>
          <a:xfrm>
            <a:off x="7696200" y="689372"/>
            <a:ext cx="2485395" cy="1477328"/>
          </a:xfrm>
          <a:prstGeom prst="rect">
            <a:avLst/>
          </a:prstGeom>
          <a:noFill/>
        </p:spPr>
        <p:txBody>
          <a:bodyPr wrap="square">
            <a:spAutoFit/>
          </a:bodyPr>
          <a:lstStyle/>
          <a:p>
            <a:r>
              <a:rPr lang="en-US" sz="1000" dirty="0"/>
              <a:t>How the visual should look?</a:t>
            </a:r>
          </a:p>
          <a:p>
            <a:r>
              <a:rPr lang="en-US" sz="1000" dirty="0"/>
              <a:t>It should show the UCR </a:t>
            </a:r>
            <a:r>
              <a:rPr lang="en-US" sz="1000" dirty="0" err="1"/>
              <a:t>runrate</a:t>
            </a:r>
            <a:r>
              <a:rPr lang="en-US" sz="1000" dirty="0"/>
              <a:t>(</a:t>
            </a:r>
            <a:r>
              <a:rPr lang="en-US" sz="1000" dirty="0" err="1"/>
              <a:t>actauls</a:t>
            </a:r>
            <a:r>
              <a:rPr lang="en-US" sz="1000" dirty="0"/>
              <a:t> )and target  in % and should be able to show what all CQN are not adhering to target based on Fiscal Year, </a:t>
            </a:r>
            <a:r>
              <a:rPr lang="en-US" sz="1000" dirty="0" err="1"/>
              <a:t>quarter,month,week</a:t>
            </a:r>
            <a:r>
              <a:rPr lang="en-US" sz="1000" dirty="0"/>
              <a:t>(restrict only for  FY25,FY26,FY27 similarly for fiscal quarter and week and should change according to the filters above</a:t>
            </a:r>
          </a:p>
        </p:txBody>
      </p:sp>
      <p:sp>
        <p:nvSpPr>
          <p:cNvPr id="12" name="TextBox 11">
            <a:extLst>
              <a:ext uri="{FF2B5EF4-FFF2-40B4-BE49-F238E27FC236}">
                <a16:creationId xmlns:a16="http://schemas.microsoft.com/office/drawing/2014/main" id="{704BDA15-D36D-DFDB-C2D8-2B4CF630CB5C}"/>
              </a:ext>
            </a:extLst>
          </p:cNvPr>
          <p:cNvSpPr txBox="1"/>
          <p:nvPr/>
        </p:nvSpPr>
        <p:spPr>
          <a:xfrm>
            <a:off x="265176" y="3244334"/>
            <a:ext cx="1280160" cy="369332"/>
          </a:xfrm>
          <a:prstGeom prst="rect">
            <a:avLst/>
          </a:prstGeom>
          <a:noFill/>
        </p:spPr>
        <p:txBody>
          <a:bodyPr wrap="square" rtlCol="0">
            <a:spAutoFit/>
          </a:bodyPr>
          <a:lstStyle/>
          <a:p>
            <a:r>
              <a:rPr lang="en-US" dirty="0"/>
              <a:t>Layer 4</a:t>
            </a:r>
          </a:p>
        </p:txBody>
      </p:sp>
      <p:sp>
        <p:nvSpPr>
          <p:cNvPr id="13" name="TextBox 12">
            <a:extLst>
              <a:ext uri="{FF2B5EF4-FFF2-40B4-BE49-F238E27FC236}">
                <a16:creationId xmlns:a16="http://schemas.microsoft.com/office/drawing/2014/main" id="{A0BE487E-2A2F-8080-3812-EDEB9BBC99B8}"/>
              </a:ext>
            </a:extLst>
          </p:cNvPr>
          <p:cNvSpPr txBox="1"/>
          <p:nvPr/>
        </p:nvSpPr>
        <p:spPr>
          <a:xfrm>
            <a:off x="301752" y="3613666"/>
            <a:ext cx="944958" cy="215444"/>
          </a:xfrm>
          <a:prstGeom prst="rect">
            <a:avLst/>
          </a:prstGeom>
          <a:noFill/>
        </p:spPr>
        <p:txBody>
          <a:bodyPr wrap="square" rtlCol="0">
            <a:spAutoFit/>
          </a:bodyPr>
          <a:lstStyle/>
          <a:p>
            <a:r>
              <a:rPr lang="en-US" sz="800" dirty="0"/>
              <a:t>Geo Map</a:t>
            </a:r>
          </a:p>
        </p:txBody>
      </p:sp>
      <p:graphicFrame>
        <p:nvGraphicFramePr>
          <p:cNvPr id="14" name="Table 13">
            <a:extLst>
              <a:ext uri="{FF2B5EF4-FFF2-40B4-BE49-F238E27FC236}">
                <a16:creationId xmlns:a16="http://schemas.microsoft.com/office/drawing/2014/main" id="{2836EA49-3DB4-0EE3-AC12-B54F4F9A1902}"/>
              </a:ext>
            </a:extLst>
          </p:cNvPr>
          <p:cNvGraphicFramePr>
            <a:graphicFrameLocks noGrp="1"/>
          </p:cNvGraphicFramePr>
          <p:nvPr>
            <p:extLst>
              <p:ext uri="{D42A27DB-BD31-4B8C-83A1-F6EECF244321}">
                <p14:modId xmlns:p14="http://schemas.microsoft.com/office/powerpoint/2010/main" val="3739055962"/>
              </p:ext>
            </p:extLst>
          </p:nvPr>
        </p:nvGraphicFramePr>
        <p:xfrm>
          <a:off x="2148840" y="3275350"/>
          <a:ext cx="7077456" cy="190500"/>
        </p:xfrm>
        <a:graphic>
          <a:graphicData uri="http://schemas.openxmlformats.org/drawingml/2006/table">
            <a:tbl>
              <a:tblPr>
                <a:tableStyleId>{5C22544A-7EE6-4342-B048-85BDC9FD1C3A}</a:tableStyleId>
              </a:tblPr>
              <a:tblGrid>
                <a:gridCol w="7077456">
                  <a:extLst>
                    <a:ext uri="{9D8B030D-6E8A-4147-A177-3AD203B41FA5}">
                      <a16:colId xmlns:a16="http://schemas.microsoft.com/office/drawing/2014/main" val="489007888"/>
                    </a:ext>
                  </a:extLst>
                </a:gridCol>
              </a:tblGrid>
              <a:tr h="190500">
                <a:tc>
                  <a:txBody>
                    <a:bodyPr/>
                    <a:lstStyle/>
                    <a:p>
                      <a:pPr algn="l" fontAlgn="b">
                        <a:buNone/>
                      </a:pPr>
                      <a:r>
                        <a:rPr lang="en-US" sz="1100" u="none" strike="noStrike" dirty="0">
                          <a:effectLst/>
                        </a:rPr>
                        <a:t>Showing all the LOB'S across regions with color coding - high adherence - green color , low with red and so on</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66509223"/>
                  </a:ext>
                </a:extLst>
              </a:tr>
            </a:tbl>
          </a:graphicData>
        </a:graphic>
      </p:graphicFrame>
    </p:spTree>
    <p:extLst>
      <p:ext uri="{BB962C8B-B14F-4D97-AF65-F5344CB8AC3E}">
        <p14:creationId xmlns:p14="http://schemas.microsoft.com/office/powerpoint/2010/main" val="2431039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486B7A-B1FD-4B44-BCB8-8D0270AFA52C}"/>
              </a:ext>
            </a:extLst>
          </p:cNvPr>
          <p:cNvPicPr>
            <a:picLocks noChangeAspect="1"/>
          </p:cNvPicPr>
          <p:nvPr/>
        </p:nvPicPr>
        <p:blipFill>
          <a:blip r:embed="rId2"/>
          <a:stretch>
            <a:fillRect/>
          </a:stretch>
        </p:blipFill>
        <p:spPr>
          <a:xfrm>
            <a:off x="1688598" y="251177"/>
            <a:ext cx="9400019" cy="631501"/>
          </a:xfrm>
          <a:prstGeom prst="rect">
            <a:avLst/>
          </a:prstGeom>
          <a:ln w="12700">
            <a:solidFill>
              <a:schemeClr val="tx1"/>
            </a:solidFill>
          </a:ln>
        </p:spPr>
      </p:pic>
      <p:sp>
        <p:nvSpPr>
          <p:cNvPr id="3" name="TextBox 2">
            <a:extLst>
              <a:ext uri="{FF2B5EF4-FFF2-40B4-BE49-F238E27FC236}">
                <a16:creationId xmlns:a16="http://schemas.microsoft.com/office/drawing/2014/main" id="{9327AD38-5F61-9FCC-0CDF-B80CFF7367C2}"/>
              </a:ext>
            </a:extLst>
          </p:cNvPr>
          <p:cNvSpPr txBox="1"/>
          <p:nvPr/>
        </p:nvSpPr>
        <p:spPr>
          <a:xfrm>
            <a:off x="352044" y="428427"/>
            <a:ext cx="671994" cy="276999"/>
          </a:xfrm>
          <a:prstGeom prst="rect">
            <a:avLst/>
          </a:prstGeom>
          <a:noFill/>
        </p:spPr>
        <p:txBody>
          <a:bodyPr wrap="square" rtlCol="0">
            <a:spAutoFit/>
          </a:bodyPr>
          <a:lstStyle/>
          <a:p>
            <a:r>
              <a:rPr lang="en-US" sz="1200" dirty="0"/>
              <a:t>Filters</a:t>
            </a:r>
          </a:p>
        </p:txBody>
      </p:sp>
      <p:sp>
        <p:nvSpPr>
          <p:cNvPr id="4" name="TextBox 3">
            <a:extLst>
              <a:ext uri="{FF2B5EF4-FFF2-40B4-BE49-F238E27FC236}">
                <a16:creationId xmlns:a16="http://schemas.microsoft.com/office/drawing/2014/main" id="{578F112E-398C-6E1C-FB1F-D78990884093}"/>
              </a:ext>
            </a:extLst>
          </p:cNvPr>
          <p:cNvSpPr txBox="1"/>
          <p:nvPr/>
        </p:nvSpPr>
        <p:spPr>
          <a:xfrm>
            <a:off x="352044" y="1228262"/>
            <a:ext cx="671994" cy="276999"/>
          </a:xfrm>
          <a:prstGeom prst="rect">
            <a:avLst/>
          </a:prstGeom>
          <a:noFill/>
        </p:spPr>
        <p:txBody>
          <a:bodyPr wrap="square" rtlCol="0">
            <a:spAutoFit/>
          </a:bodyPr>
          <a:lstStyle/>
          <a:p>
            <a:r>
              <a:rPr lang="en-US" sz="1200" dirty="0"/>
              <a:t>Cards</a:t>
            </a:r>
          </a:p>
        </p:txBody>
      </p:sp>
      <p:pic>
        <p:nvPicPr>
          <p:cNvPr id="5" name="Picture 4">
            <a:extLst>
              <a:ext uri="{FF2B5EF4-FFF2-40B4-BE49-F238E27FC236}">
                <a16:creationId xmlns:a16="http://schemas.microsoft.com/office/drawing/2014/main" id="{185D1FA4-28C3-5873-1337-F28481AC0ADB}"/>
              </a:ext>
            </a:extLst>
          </p:cNvPr>
          <p:cNvPicPr>
            <a:picLocks noChangeAspect="1"/>
          </p:cNvPicPr>
          <p:nvPr/>
        </p:nvPicPr>
        <p:blipFill>
          <a:blip r:embed="rId3"/>
          <a:stretch>
            <a:fillRect/>
          </a:stretch>
        </p:blipFill>
        <p:spPr>
          <a:xfrm>
            <a:off x="1530151" y="1180580"/>
            <a:ext cx="1853073" cy="649363"/>
          </a:xfrm>
          <a:prstGeom prst="rect">
            <a:avLst/>
          </a:prstGeom>
        </p:spPr>
      </p:pic>
      <p:pic>
        <p:nvPicPr>
          <p:cNvPr id="6" name="Picture 5">
            <a:extLst>
              <a:ext uri="{FF2B5EF4-FFF2-40B4-BE49-F238E27FC236}">
                <a16:creationId xmlns:a16="http://schemas.microsoft.com/office/drawing/2014/main" id="{FB503432-391D-BEAD-92BD-08044F3258B4}"/>
              </a:ext>
            </a:extLst>
          </p:cNvPr>
          <p:cNvPicPr>
            <a:picLocks noChangeAspect="1"/>
          </p:cNvPicPr>
          <p:nvPr/>
        </p:nvPicPr>
        <p:blipFill>
          <a:blip r:embed="rId4"/>
          <a:stretch>
            <a:fillRect/>
          </a:stretch>
        </p:blipFill>
        <p:spPr>
          <a:xfrm>
            <a:off x="3688344" y="1146806"/>
            <a:ext cx="1853073" cy="683137"/>
          </a:xfrm>
          <a:prstGeom prst="rect">
            <a:avLst/>
          </a:prstGeom>
        </p:spPr>
      </p:pic>
      <p:pic>
        <p:nvPicPr>
          <p:cNvPr id="7" name="Picture 6">
            <a:extLst>
              <a:ext uri="{FF2B5EF4-FFF2-40B4-BE49-F238E27FC236}">
                <a16:creationId xmlns:a16="http://schemas.microsoft.com/office/drawing/2014/main" id="{C6E7EC02-1DFF-8BA6-29A5-3AC0C5BF3FF5}"/>
              </a:ext>
            </a:extLst>
          </p:cNvPr>
          <p:cNvPicPr>
            <a:picLocks noChangeAspect="1"/>
          </p:cNvPicPr>
          <p:nvPr/>
        </p:nvPicPr>
        <p:blipFill>
          <a:blip r:embed="rId5"/>
          <a:stretch>
            <a:fillRect/>
          </a:stretch>
        </p:blipFill>
        <p:spPr>
          <a:xfrm>
            <a:off x="5846537" y="1127757"/>
            <a:ext cx="1761271" cy="702186"/>
          </a:xfrm>
          <a:prstGeom prst="rect">
            <a:avLst/>
          </a:prstGeom>
        </p:spPr>
      </p:pic>
      <p:pic>
        <p:nvPicPr>
          <p:cNvPr id="8" name="Picture 7">
            <a:extLst>
              <a:ext uri="{FF2B5EF4-FFF2-40B4-BE49-F238E27FC236}">
                <a16:creationId xmlns:a16="http://schemas.microsoft.com/office/drawing/2014/main" id="{4E791712-7162-29ED-1125-CF2E6BF5BC21}"/>
              </a:ext>
            </a:extLst>
          </p:cNvPr>
          <p:cNvPicPr>
            <a:picLocks noChangeAspect="1"/>
          </p:cNvPicPr>
          <p:nvPr/>
        </p:nvPicPr>
        <p:blipFill>
          <a:blip r:embed="rId6"/>
          <a:stretch>
            <a:fillRect/>
          </a:stretch>
        </p:blipFill>
        <p:spPr>
          <a:xfrm>
            <a:off x="7912928" y="1118232"/>
            <a:ext cx="1761271" cy="711711"/>
          </a:xfrm>
          <a:prstGeom prst="rect">
            <a:avLst/>
          </a:prstGeom>
        </p:spPr>
      </p:pic>
      <p:pic>
        <p:nvPicPr>
          <p:cNvPr id="9" name="Picture 8">
            <a:extLst>
              <a:ext uri="{FF2B5EF4-FFF2-40B4-BE49-F238E27FC236}">
                <a16:creationId xmlns:a16="http://schemas.microsoft.com/office/drawing/2014/main" id="{A0B032D9-C0C0-1985-1A43-4397002F0120}"/>
              </a:ext>
            </a:extLst>
          </p:cNvPr>
          <p:cNvPicPr>
            <a:picLocks noChangeAspect="1"/>
          </p:cNvPicPr>
          <p:nvPr/>
        </p:nvPicPr>
        <p:blipFill>
          <a:blip r:embed="rId7"/>
          <a:stretch>
            <a:fillRect/>
          </a:stretch>
        </p:blipFill>
        <p:spPr>
          <a:xfrm>
            <a:off x="9979319" y="1089656"/>
            <a:ext cx="1578697" cy="740287"/>
          </a:xfrm>
          <a:prstGeom prst="rect">
            <a:avLst/>
          </a:prstGeom>
        </p:spPr>
      </p:pic>
      <p:sp>
        <p:nvSpPr>
          <p:cNvPr id="12" name="TextBox 11">
            <a:extLst>
              <a:ext uri="{FF2B5EF4-FFF2-40B4-BE49-F238E27FC236}">
                <a16:creationId xmlns:a16="http://schemas.microsoft.com/office/drawing/2014/main" id="{B2FB5EC1-77E9-1343-EE20-1A8CECA65418}"/>
              </a:ext>
            </a:extLst>
          </p:cNvPr>
          <p:cNvSpPr txBox="1"/>
          <p:nvPr/>
        </p:nvSpPr>
        <p:spPr>
          <a:xfrm>
            <a:off x="352044" y="2237187"/>
            <a:ext cx="816527" cy="276999"/>
          </a:xfrm>
          <a:prstGeom prst="rect">
            <a:avLst/>
          </a:prstGeom>
          <a:noFill/>
        </p:spPr>
        <p:txBody>
          <a:bodyPr wrap="square" rtlCol="0">
            <a:spAutoFit/>
          </a:bodyPr>
          <a:lstStyle/>
          <a:p>
            <a:r>
              <a:rPr lang="en-US" sz="1200" dirty="0"/>
              <a:t>Graphs</a:t>
            </a:r>
          </a:p>
        </p:txBody>
      </p:sp>
      <p:sp>
        <p:nvSpPr>
          <p:cNvPr id="13" name="TextBox 12">
            <a:extLst>
              <a:ext uri="{FF2B5EF4-FFF2-40B4-BE49-F238E27FC236}">
                <a16:creationId xmlns:a16="http://schemas.microsoft.com/office/drawing/2014/main" id="{427A1F05-7381-1D5D-45C9-ECCF2BC8CBB5}"/>
              </a:ext>
            </a:extLst>
          </p:cNvPr>
          <p:cNvSpPr txBox="1"/>
          <p:nvPr/>
        </p:nvSpPr>
        <p:spPr>
          <a:xfrm>
            <a:off x="1024038" y="2284870"/>
            <a:ext cx="671994" cy="276999"/>
          </a:xfrm>
          <a:prstGeom prst="rect">
            <a:avLst/>
          </a:prstGeom>
          <a:noFill/>
        </p:spPr>
        <p:txBody>
          <a:bodyPr wrap="square" rtlCol="0">
            <a:spAutoFit/>
          </a:bodyPr>
          <a:lstStyle/>
          <a:p>
            <a:r>
              <a:rPr lang="en-US" sz="1200" dirty="0"/>
              <a:t>Layer 1</a:t>
            </a:r>
          </a:p>
        </p:txBody>
      </p:sp>
      <p:graphicFrame>
        <p:nvGraphicFramePr>
          <p:cNvPr id="14" name="Table 13">
            <a:extLst>
              <a:ext uri="{FF2B5EF4-FFF2-40B4-BE49-F238E27FC236}">
                <a16:creationId xmlns:a16="http://schemas.microsoft.com/office/drawing/2014/main" id="{AE5BDD6C-F0CD-9436-E86B-85EC46442C48}"/>
              </a:ext>
            </a:extLst>
          </p:cNvPr>
          <p:cNvGraphicFramePr>
            <a:graphicFrameLocks noGrp="1"/>
          </p:cNvGraphicFramePr>
          <p:nvPr>
            <p:extLst>
              <p:ext uri="{D42A27DB-BD31-4B8C-83A1-F6EECF244321}">
                <p14:modId xmlns:p14="http://schemas.microsoft.com/office/powerpoint/2010/main" val="1699960645"/>
              </p:ext>
            </p:extLst>
          </p:nvPr>
        </p:nvGraphicFramePr>
        <p:xfrm>
          <a:off x="1024038" y="2624308"/>
          <a:ext cx="1024218" cy="512445"/>
        </p:xfrm>
        <a:graphic>
          <a:graphicData uri="http://schemas.openxmlformats.org/drawingml/2006/table">
            <a:tbl>
              <a:tblPr>
                <a:tableStyleId>{5C22544A-7EE6-4342-B048-85BDC9FD1C3A}</a:tableStyleId>
              </a:tblPr>
              <a:tblGrid>
                <a:gridCol w="1024218">
                  <a:extLst>
                    <a:ext uri="{9D8B030D-6E8A-4147-A177-3AD203B41FA5}">
                      <a16:colId xmlns:a16="http://schemas.microsoft.com/office/drawing/2014/main" val="749791273"/>
                    </a:ext>
                  </a:extLst>
                </a:gridCol>
              </a:tblGrid>
              <a:tr h="190500">
                <a:tc>
                  <a:txBody>
                    <a:bodyPr/>
                    <a:lstStyle/>
                    <a:p>
                      <a:pPr algn="l" fontAlgn="b">
                        <a:buNone/>
                      </a:pPr>
                      <a:r>
                        <a:rPr lang="en-US" sz="1100" u="none" strike="noStrike" dirty="0">
                          <a:effectLst/>
                        </a:rPr>
                        <a:t>Layer Name – Headcount and Attrition</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83094357"/>
                  </a:ext>
                </a:extLst>
              </a:tr>
            </a:tbl>
          </a:graphicData>
        </a:graphic>
      </p:graphicFrame>
      <p:sp>
        <p:nvSpPr>
          <p:cNvPr id="15" name="TextBox 14">
            <a:extLst>
              <a:ext uri="{FF2B5EF4-FFF2-40B4-BE49-F238E27FC236}">
                <a16:creationId xmlns:a16="http://schemas.microsoft.com/office/drawing/2014/main" id="{E43F19C4-0597-75E6-7AFA-1FD15E9DFD26}"/>
              </a:ext>
            </a:extLst>
          </p:cNvPr>
          <p:cNvSpPr txBox="1"/>
          <p:nvPr/>
        </p:nvSpPr>
        <p:spPr>
          <a:xfrm>
            <a:off x="2374600" y="2237187"/>
            <a:ext cx="2240280" cy="307777"/>
          </a:xfrm>
          <a:prstGeom prst="rect">
            <a:avLst/>
          </a:prstGeom>
          <a:noFill/>
        </p:spPr>
        <p:txBody>
          <a:bodyPr wrap="square" rtlCol="0">
            <a:spAutoFit/>
          </a:bodyPr>
          <a:lstStyle/>
          <a:p>
            <a:r>
              <a:rPr lang="en-US" sz="1400" dirty="0"/>
              <a:t>Actual vs Plan Summary</a:t>
            </a:r>
          </a:p>
        </p:txBody>
      </p:sp>
      <p:sp>
        <p:nvSpPr>
          <p:cNvPr id="16" name="TextBox 15">
            <a:extLst>
              <a:ext uri="{FF2B5EF4-FFF2-40B4-BE49-F238E27FC236}">
                <a16:creationId xmlns:a16="http://schemas.microsoft.com/office/drawing/2014/main" id="{84B168C0-7614-DA44-D47C-8FA598857E24}"/>
              </a:ext>
            </a:extLst>
          </p:cNvPr>
          <p:cNvSpPr txBox="1"/>
          <p:nvPr/>
        </p:nvSpPr>
        <p:spPr>
          <a:xfrm>
            <a:off x="2374600" y="2705866"/>
            <a:ext cx="2176905" cy="861774"/>
          </a:xfrm>
          <a:prstGeom prst="rect">
            <a:avLst/>
          </a:prstGeom>
          <a:noFill/>
        </p:spPr>
        <p:txBody>
          <a:bodyPr wrap="square">
            <a:spAutoFit/>
          </a:bodyPr>
          <a:lstStyle/>
          <a:p>
            <a:r>
              <a:rPr lang="en-US" sz="1000" dirty="0"/>
              <a:t>How the visual should look?</a:t>
            </a:r>
            <a:br>
              <a:rPr lang="en-US" sz="1000" dirty="0"/>
            </a:br>
            <a:r>
              <a:rPr lang="en-US" sz="1000" dirty="0"/>
              <a:t>– Exactly like this below show it at fiscal year default and then be able to drill down to Fiscal quarter and week  </a:t>
            </a:r>
          </a:p>
        </p:txBody>
      </p:sp>
      <p:pic>
        <p:nvPicPr>
          <p:cNvPr id="17" name="Picture 16">
            <a:extLst>
              <a:ext uri="{FF2B5EF4-FFF2-40B4-BE49-F238E27FC236}">
                <a16:creationId xmlns:a16="http://schemas.microsoft.com/office/drawing/2014/main" id="{12DB3998-928B-1210-B9C8-BB3D99A24244}"/>
              </a:ext>
            </a:extLst>
          </p:cNvPr>
          <p:cNvPicPr>
            <a:picLocks noChangeAspect="1"/>
          </p:cNvPicPr>
          <p:nvPr/>
        </p:nvPicPr>
        <p:blipFill>
          <a:blip r:embed="rId8"/>
          <a:stretch>
            <a:fillRect/>
          </a:stretch>
        </p:blipFill>
        <p:spPr>
          <a:xfrm>
            <a:off x="2125981" y="4128727"/>
            <a:ext cx="3028127" cy="1375961"/>
          </a:xfrm>
          <a:prstGeom prst="rect">
            <a:avLst/>
          </a:prstGeom>
        </p:spPr>
      </p:pic>
      <p:sp>
        <p:nvSpPr>
          <p:cNvPr id="18" name="TextBox 17">
            <a:extLst>
              <a:ext uri="{FF2B5EF4-FFF2-40B4-BE49-F238E27FC236}">
                <a16:creationId xmlns:a16="http://schemas.microsoft.com/office/drawing/2014/main" id="{1E447674-CC1F-8530-B6DA-AF2E07C2ADD3}"/>
              </a:ext>
            </a:extLst>
          </p:cNvPr>
          <p:cNvSpPr txBox="1"/>
          <p:nvPr/>
        </p:nvSpPr>
        <p:spPr>
          <a:xfrm>
            <a:off x="5653190" y="2300259"/>
            <a:ext cx="1073981" cy="261610"/>
          </a:xfrm>
          <a:prstGeom prst="rect">
            <a:avLst/>
          </a:prstGeom>
          <a:noFill/>
        </p:spPr>
        <p:txBody>
          <a:bodyPr wrap="square">
            <a:spAutoFit/>
          </a:bodyPr>
          <a:lstStyle/>
          <a:p>
            <a:r>
              <a:rPr lang="en-US" sz="1100" dirty="0"/>
              <a:t>Attrition</a:t>
            </a:r>
          </a:p>
        </p:txBody>
      </p:sp>
      <p:sp>
        <p:nvSpPr>
          <p:cNvPr id="19" name="TextBox 18">
            <a:extLst>
              <a:ext uri="{FF2B5EF4-FFF2-40B4-BE49-F238E27FC236}">
                <a16:creationId xmlns:a16="http://schemas.microsoft.com/office/drawing/2014/main" id="{63792C04-A563-A8F1-4854-66F3970162FE}"/>
              </a:ext>
            </a:extLst>
          </p:cNvPr>
          <p:cNvSpPr txBox="1"/>
          <p:nvPr/>
        </p:nvSpPr>
        <p:spPr>
          <a:xfrm>
            <a:off x="5638719" y="2705866"/>
            <a:ext cx="2176905" cy="1938992"/>
          </a:xfrm>
          <a:prstGeom prst="rect">
            <a:avLst/>
          </a:prstGeom>
          <a:noFill/>
        </p:spPr>
        <p:txBody>
          <a:bodyPr wrap="square">
            <a:spAutoFit/>
          </a:bodyPr>
          <a:lstStyle/>
          <a:p>
            <a:r>
              <a:rPr lang="en-US" sz="1000" dirty="0"/>
              <a:t>How the visual should look?</a:t>
            </a:r>
            <a:br>
              <a:rPr lang="en-US" sz="1000" dirty="0"/>
            </a:br>
            <a:r>
              <a:rPr lang="en-US" sz="1000" dirty="0"/>
              <a:t>– It should show total employee count and attrition in line chart(attrition numbers should be very low) and employee count should be around 3000-4000 range and should be shown on Fiscal year FY25,FY26,FY27 then be able to drill down to Fiscal quarter and week .</a:t>
            </a:r>
            <a:br>
              <a:rPr lang="en-US" sz="1000" dirty="0"/>
            </a:br>
            <a:r>
              <a:rPr lang="en-US" sz="1000" dirty="0"/>
              <a:t>Also a region and Country toggle should be there at the right top corner</a:t>
            </a:r>
          </a:p>
        </p:txBody>
      </p:sp>
      <p:sp>
        <p:nvSpPr>
          <p:cNvPr id="20" name="TextBox 19">
            <a:extLst>
              <a:ext uri="{FF2B5EF4-FFF2-40B4-BE49-F238E27FC236}">
                <a16:creationId xmlns:a16="http://schemas.microsoft.com/office/drawing/2014/main" id="{41F89869-A1C2-2430-8BED-8AE37A5D31D1}"/>
              </a:ext>
            </a:extLst>
          </p:cNvPr>
          <p:cNvSpPr txBox="1"/>
          <p:nvPr/>
        </p:nvSpPr>
        <p:spPr>
          <a:xfrm>
            <a:off x="9329168" y="2260270"/>
            <a:ext cx="1838794" cy="261610"/>
          </a:xfrm>
          <a:prstGeom prst="rect">
            <a:avLst/>
          </a:prstGeom>
          <a:noFill/>
        </p:spPr>
        <p:txBody>
          <a:bodyPr wrap="square">
            <a:spAutoFit/>
          </a:bodyPr>
          <a:lstStyle/>
          <a:p>
            <a:r>
              <a:rPr lang="en-US" sz="1100" dirty="0"/>
              <a:t>Actual vs Plan utilization</a:t>
            </a:r>
          </a:p>
        </p:txBody>
      </p:sp>
      <p:sp>
        <p:nvSpPr>
          <p:cNvPr id="21" name="TextBox 20">
            <a:extLst>
              <a:ext uri="{FF2B5EF4-FFF2-40B4-BE49-F238E27FC236}">
                <a16:creationId xmlns:a16="http://schemas.microsoft.com/office/drawing/2014/main" id="{2DC26954-712E-E5AF-0E61-7BF43ACA887F}"/>
              </a:ext>
            </a:extLst>
          </p:cNvPr>
          <p:cNvSpPr txBox="1"/>
          <p:nvPr/>
        </p:nvSpPr>
        <p:spPr>
          <a:xfrm>
            <a:off x="9082959" y="2705866"/>
            <a:ext cx="2176905" cy="1785104"/>
          </a:xfrm>
          <a:prstGeom prst="rect">
            <a:avLst/>
          </a:prstGeom>
          <a:noFill/>
        </p:spPr>
        <p:txBody>
          <a:bodyPr wrap="square">
            <a:spAutoFit/>
          </a:bodyPr>
          <a:lstStyle/>
          <a:p>
            <a:r>
              <a:rPr lang="en-US" sz="1000" dirty="0"/>
              <a:t>How the visual should look?</a:t>
            </a:r>
            <a:br>
              <a:rPr lang="en-US" sz="1000" dirty="0"/>
            </a:br>
            <a:r>
              <a:rPr lang="en-US" sz="1000" dirty="0"/>
              <a:t>– It should show actual and planned utilization in column chart and adherence(actuals vs plan) in line chart should be shown on Fiscal year FY25,FY26,FY27 then be able to drill down to Fiscal quarter and week </a:t>
            </a:r>
            <a:br>
              <a:rPr lang="en-US" sz="1000" dirty="0"/>
            </a:br>
            <a:r>
              <a:rPr lang="en-US" sz="1000" dirty="0"/>
              <a:t>Also a region and Country toggle should be there at the right top corner</a:t>
            </a:r>
          </a:p>
        </p:txBody>
      </p:sp>
    </p:spTree>
    <p:extLst>
      <p:ext uri="{BB962C8B-B14F-4D97-AF65-F5344CB8AC3E}">
        <p14:creationId xmlns:p14="http://schemas.microsoft.com/office/powerpoint/2010/main" val="4057523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0579EA-B7F6-3871-A632-1F0184EA4CFD}"/>
              </a:ext>
            </a:extLst>
          </p:cNvPr>
          <p:cNvSpPr txBox="1"/>
          <p:nvPr/>
        </p:nvSpPr>
        <p:spPr>
          <a:xfrm>
            <a:off x="-42269" y="195364"/>
            <a:ext cx="671994" cy="276999"/>
          </a:xfrm>
          <a:prstGeom prst="rect">
            <a:avLst/>
          </a:prstGeom>
          <a:noFill/>
        </p:spPr>
        <p:txBody>
          <a:bodyPr wrap="square" rtlCol="0">
            <a:spAutoFit/>
          </a:bodyPr>
          <a:lstStyle/>
          <a:p>
            <a:r>
              <a:rPr lang="en-US" sz="1200" dirty="0"/>
              <a:t>Layer 2</a:t>
            </a:r>
          </a:p>
        </p:txBody>
      </p:sp>
      <p:sp>
        <p:nvSpPr>
          <p:cNvPr id="3" name="TextBox 2">
            <a:extLst>
              <a:ext uri="{FF2B5EF4-FFF2-40B4-BE49-F238E27FC236}">
                <a16:creationId xmlns:a16="http://schemas.microsoft.com/office/drawing/2014/main" id="{8D8D9228-F935-9984-86B5-1916A12544BC}"/>
              </a:ext>
            </a:extLst>
          </p:cNvPr>
          <p:cNvSpPr txBox="1"/>
          <p:nvPr/>
        </p:nvSpPr>
        <p:spPr>
          <a:xfrm>
            <a:off x="0" y="585431"/>
            <a:ext cx="945283" cy="600164"/>
          </a:xfrm>
          <a:prstGeom prst="rect">
            <a:avLst/>
          </a:prstGeom>
          <a:noFill/>
        </p:spPr>
        <p:txBody>
          <a:bodyPr wrap="square">
            <a:spAutoFit/>
          </a:bodyPr>
          <a:lstStyle/>
          <a:p>
            <a:r>
              <a:rPr lang="en-US" sz="1100" dirty="0"/>
              <a:t>Plan over Plan Comparison</a:t>
            </a:r>
          </a:p>
        </p:txBody>
      </p:sp>
      <p:sp>
        <p:nvSpPr>
          <p:cNvPr id="4" name="TextBox 3">
            <a:extLst>
              <a:ext uri="{FF2B5EF4-FFF2-40B4-BE49-F238E27FC236}">
                <a16:creationId xmlns:a16="http://schemas.microsoft.com/office/drawing/2014/main" id="{BA0F3CF2-5C04-4F81-8418-B4C9639BD7C7}"/>
              </a:ext>
            </a:extLst>
          </p:cNvPr>
          <p:cNvSpPr txBox="1"/>
          <p:nvPr/>
        </p:nvSpPr>
        <p:spPr>
          <a:xfrm>
            <a:off x="945283" y="585431"/>
            <a:ext cx="11016234" cy="861774"/>
          </a:xfrm>
          <a:prstGeom prst="rect">
            <a:avLst/>
          </a:prstGeom>
          <a:noFill/>
        </p:spPr>
        <p:txBody>
          <a:bodyPr wrap="square">
            <a:spAutoFit/>
          </a:bodyPr>
          <a:lstStyle/>
          <a:p>
            <a:r>
              <a:rPr lang="en-US" sz="1000" dirty="0"/>
              <a:t>How the visual should look?</a:t>
            </a:r>
          </a:p>
          <a:p>
            <a:r>
              <a:rPr lang="en-US" sz="1000" dirty="0"/>
              <a:t>Plan over Plan headcount comparison should be there with two dropdowns at the top right corner Named Plan A and Plan B (put in plan names like Dec Plan, Jan Plan ,April Plan –same name in both the dropdowns.</a:t>
            </a:r>
            <a:br>
              <a:rPr lang="en-US" sz="1000" dirty="0"/>
            </a:br>
            <a:r>
              <a:rPr lang="en-US" sz="1000" dirty="0"/>
              <a:t>Column chart should be there for Plan A and Plan B and variance % line should be there (</a:t>
            </a:r>
            <a:r>
              <a:rPr lang="en-US" sz="1000" dirty="0" err="1"/>
              <a:t>i.e</a:t>
            </a:r>
            <a:r>
              <a:rPr lang="en-US" sz="1000" dirty="0"/>
              <a:t> difference % between two plans).</a:t>
            </a:r>
            <a:br>
              <a:rPr lang="en-US" sz="1000" dirty="0"/>
            </a:br>
            <a:r>
              <a:rPr lang="en-US" sz="1000" dirty="0"/>
              <a:t>It should be shown on Fiscal year FY25,FY26,FY27 then be able to drill down to Fiscal quarter and week .</a:t>
            </a:r>
          </a:p>
        </p:txBody>
      </p:sp>
      <p:sp>
        <p:nvSpPr>
          <p:cNvPr id="5" name="TextBox 4">
            <a:extLst>
              <a:ext uri="{FF2B5EF4-FFF2-40B4-BE49-F238E27FC236}">
                <a16:creationId xmlns:a16="http://schemas.microsoft.com/office/drawing/2014/main" id="{8FED3742-6D7B-D463-9813-049E90847E48}"/>
              </a:ext>
            </a:extLst>
          </p:cNvPr>
          <p:cNvSpPr txBox="1"/>
          <p:nvPr/>
        </p:nvSpPr>
        <p:spPr>
          <a:xfrm>
            <a:off x="4555953" y="144518"/>
            <a:ext cx="2018583" cy="261610"/>
          </a:xfrm>
          <a:prstGeom prst="rect">
            <a:avLst/>
          </a:prstGeom>
          <a:noFill/>
        </p:spPr>
        <p:txBody>
          <a:bodyPr wrap="square">
            <a:spAutoFit/>
          </a:bodyPr>
          <a:lstStyle/>
          <a:p>
            <a:r>
              <a:rPr lang="en-US" sz="1100" dirty="0"/>
              <a:t>Plan over Plan Comparison</a:t>
            </a:r>
          </a:p>
        </p:txBody>
      </p:sp>
      <p:sp>
        <p:nvSpPr>
          <p:cNvPr id="6" name="TextBox 5">
            <a:extLst>
              <a:ext uri="{FF2B5EF4-FFF2-40B4-BE49-F238E27FC236}">
                <a16:creationId xmlns:a16="http://schemas.microsoft.com/office/drawing/2014/main" id="{879ABE44-D79D-E29E-E024-94BA2CD8A9C2}"/>
              </a:ext>
            </a:extLst>
          </p:cNvPr>
          <p:cNvSpPr txBox="1"/>
          <p:nvPr/>
        </p:nvSpPr>
        <p:spPr>
          <a:xfrm>
            <a:off x="7226001" y="144518"/>
            <a:ext cx="4965999" cy="261610"/>
          </a:xfrm>
          <a:prstGeom prst="rect">
            <a:avLst/>
          </a:prstGeom>
          <a:noFill/>
        </p:spPr>
        <p:txBody>
          <a:bodyPr wrap="square">
            <a:spAutoFit/>
          </a:bodyPr>
          <a:lstStyle/>
          <a:p>
            <a:r>
              <a:rPr lang="en-US" sz="1100" dirty="0"/>
              <a:t>* Only one graph should be there in this layer it should cover the entire layer</a:t>
            </a:r>
          </a:p>
        </p:txBody>
      </p:sp>
      <p:sp>
        <p:nvSpPr>
          <p:cNvPr id="7" name="TextBox 6">
            <a:extLst>
              <a:ext uri="{FF2B5EF4-FFF2-40B4-BE49-F238E27FC236}">
                <a16:creationId xmlns:a16="http://schemas.microsoft.com/office/drawing/2014/main" id="{9C253577-F4B6-E9E0-0F78-73BCBDD270C5}"/>
              </a:ext>
            </a:extLst>
          </p:cNvPr>
          <p:cNvSpPr txBox="1"/>
          <p:nvPr/>
        </p:nvSpPr>
        <p:spPr>
          <a:xfrm>
            <a:off x="-37787" y="1984540"/>
            <a:ext cx="671994" cy="276999"/>
          </a:xfrm>
          <a:prstGeom prst="rect">
            <a:avLst/>
          </a:prstGeom>
          <a:noFill/>
        </p:spPr>
        <p:txBody>
          <a:bodyPr wrap="square" rtlCol="0">
            <a:spAutoFit/>
          </a:bodyPr>
          <a:lstStyle/>
          <a:p>
            <a:r>
              <a:rPr lang="en-US" sz="1200" dirty="0"/>
              <a:t>Layer 3</a:t>
            </a:r>
          </a:p>
        </p:txBody>
      </p:sp>
      <p:sp>
        <p:nvSpPr>
          <p:cNvPr id="8" name="TextBox 7">
            <a:extLst>
              <a:ext uri="{FF2B5EF4-FFF2-40B4-BE49-F238E27FC236}">
                <a16:creationId xmlns:a16="http://schemas.microsoft.com/office/drawing/2014/main" id="{24B88F20-BFBB-C5CD-E9E9-00BB777BE345}"/>
              </a:ext>
            </a:extLst>
          </p:cNvPr>
          <p:cNvSpPr txBox="1"/>
          <p:nvPr/>
        </p:nvSpPr>
        <p:spPr>
          <a:xfrm>
            <a:off x="0" y="2261539"/>
            <a:ext cx="945283" cy="430887"/>
          </a:xfrm>
          <a:prstGeom prst="rect">
            <a:avLst/>
          </a:prstGeom>
          <a:noFill/>
        </p:spPr>
        <p:txBody>
          <a:bodyPr wrap="square">
            <a:spAutoFit/>
          </a:bodyPr>
          <a:lstStyle/>
          <a:p>
            <a:r>
              <a:rPr lang="en-US" sz="1100" dirty="0"/>
              <a:t>Workload distribution</a:t>
            </a:r>
          </a:p>
        </p:txBody>
      </p:sp>
      <p:graphicFrame>
        <p:nvGraphicFramePr>
          <p:cNvPr id="9" name="Table 8">
            <a:extLst>
              <a:ext uri="{FF2B5EF4-FFF2-40B4-BE49-F238E27FC236}">
                <a16:creationId xmlns:a16="http://schemas.microsoft.com/office/drawing/2014/main" id="{72189FC8-C90B-660C-F9FC-B747ED446981}"/>
              </a:ext>
            </a:extLst>
          </p:cNvPr>
          <p:cNvGraphicFramePr>
            <a:graphicFrameLocks noGrp="1"/>
          </p:cNvGraphicFramePr>
          <p:nvPr>
            <p:extLst>
              <p:ext uri="{D42A27DB-BD31-4B8C-83A1-F6EECF244321}">
                <p14:modId xmlns:p14="http://schemas.microsoft.com/office/powerpoint/2010/main" val="2008115022"/>
              </p:ext>
            </p:extLst>
          </p:nvPr>
        </p:nvGraphicFramePr>
        <p:xfrm>
          <a:off x="1255775" y="1984540"/>
          <a:ext cx="2895601" cy="190500"/>
        </p:xfrm>
        <a:graphic>
          <a:graphicData uri="http://schemas.openxmlformats.org/drawingml/2006/table">
            <a:tbl>
              <a:tblPr>
                <a:tableStyleId>{5C22544A-7EE6-4342-B048-85BDC9FD1C3A}</a:tableStyleId>
              </a:tblPr>
              <a:tblGrid>
                <a:gridCol w="2895601">
                  <a:extLst>
                    <a:ext uri="{9D8B030D-6E8A-4147-A177-3AD203B41FA5}">
                      <a16:colId xmlns:a16="http://schemas.microsoft.com/office/drawing/2014/main" val="3595410907"/>
                    </a:ext>
                  </a:extLst>
                </a:gridCol>
              </a:tblGrid>
              <a:tr h="190500">
                <a:tc>
                  <a:txBody>
                    <a:bodyPr/>
                    <a:lstStyle/>
                    <a:p>
                      <a:pPr algn="l" fontAlgn="b">
                        <a:buNone/>
                      </a:pPr>
                      <a:r>
                        <a:rPr lang="en-US" sz="1100" u="none" strike="noStrike" dirty="0">
                          <a:effectLst/>
                        </a:rPr>
                        <a:t>Distribution  - LOB to CQN and CQN to LOB</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66131184"/>
                  </a:ext>
                </a:extLst>
              </a:tr>
            </a:tbl>
          </a:graphicData>
        </a:graphic>
      </p:graphicFrame>
      <p:sp>
        <p:nvSpPr>
          <p:cNvPr id="10" name="TextBox 9">
            <a:extLst>
              <a:ext uri="{FF2B5EF4-FFF2-40B4-BE49-F238E27FC236}">
                <a16:creationId xmlns:a16="http://schemas.microsoft.com/office/drawing/2014/main" id="{E295E3E3-91DD-0088-B838-AF6B6E3A1FE5}"/>
              </a:ext>
            </a:extLst>
          </p:cNvPr>
          <p:cNvSpPr txBox="1"/>
          <p:nvPr/>
        </p:nvSpPr>
        <p:spPr>
          <a:xfrm>
            <a:off x="1158448" y="2281488"/>
            <a:ext cx="2176905" cy="861774"/>
          </a:xfrm>
          <a:prstGeom prst="rect">
            <a:avLst/>
          </a:prstGeom>
          <a:noFill/>
        </p:spPr>
        <p:txBody>
          <a:bodyPr wrap="square">
            <a:spAutoFit/>
          </a:bodyPr>
          <a:lstStyle/>
          <a:p>
            <a:r>
              <a:rPr lang="en-US" sz="1000" dirty="0"/>
              <a:t>How the visual should look?</a:t>
            </a:r>
            <a:br>
              <a:rPr lang="en-US" sz="1000" dirty="0"/>
            </a:br>
            <a:r>
              <a:rPr lang="en-US" sz="1000" dirty="0"/>
              <a:t>– Exactly like this below show it at fiscal year default and then be able to drill down to Fiscal quarter and week  </a:t>
            </a:r>
          </a:p>
        </p:txBody>
      </p:sp>
      <p:pic>
        <p:nvPicPr>
          <p:cNvPr id="11" name="Picture 10">
            <a:extLst>
              <a:ext uri="{FF2B5EF4-FFF2-40B4-BE49-F238E27FC236}">
                <a16:creationId xmlns:a16="http://schemas.microsoft.com/office/drawing/2014/main" id="{695756DD-AB00-B8CB-0396-694F68B8798D}"/>
              </a:ext>
            </a:extLst>
          </p:cNvPr>
          <p:cNvPicPr>
            <a:picLocks noChangeAspect="1"/>
          </p:cNvPicPr>
          <p:nvPr/>
        </p:nvPicPr>
        <p:blipFill>
          <a:blip r:embed="rId2"/>
          <a:stretch>
            <a:fillRect/>
          </a:stretch>
        </p:blipFill>
        <p:spPr>
          <a:xfrm>
            <a:off x="542543" y="3383781"/>
            <a:ext cx="3732248" cy="2598360"/>
          </a:xfrm>
          <a:prstGeom prst="rect">
            <a:avLst/>
          </a:prstGeom>
        </p:spPr>
      </p:pic>
      <p:graphicFrame>
        <p:nvGraphicFramePr>
          <p:cNvPr id="12" name="Table 11">
            <a:extLst>
              <a:ext uri="{FF2B5EF4-FFF2-40B4-BE49-F238E27FC236}">
                <a16:creationId xmlns:a16="http://schemas.microsoft.com/office/drawing/2014/main" id="{86067A66-10FA-6A45-9452-734ED13EF648}"/>
              </a:ext>
            </a:extLst>
          </p:cNvPr>
          <p:cNvGraphicFramePr>
            <a:graphicFrameLocks noGrp="1"/>
          </p:cNvGraphicFramePr>
          <p:nvPr>
            <p:extLst>
              <p:ext uri="{D42A27DB-BD31-4B8C-83A1-F6EECF244321}">
                <p14:modId xmlns:p14="http://schemas.microsoft.com/office/powerpoint/2010/main" val="2061478382"/>
              </p:ext>
            </p:extLst>
          </p:nvPr>
        </p:nvGraphicFramePr>
        <p:xfrm>
          <a:off x="4988023" y="1907387"/>
          <a:ext cx="3197352" cy="216852"/>
        </p:xfrm>
        <a:graphic>
          <a:graphicData uri="http://schemas.openxmlformats.org/drawingml/2006/table">
            <a:tbl>
              <a:tblPr>
                <a:tableStyleId>{5C22544A-7EE6-4342-B048-85BDC9FD1C3A}</a:tableStyleId>
              </a:tblPr>
              <a:tblGrid>
                <a:gridCol w="3197352">
                  <a:extLst>
                    <a:ext uri="{9D8B030D-6E8A-4147-A177-3AD203B41FA5}">
                      <a16:colId xmlns:a16="http://schemas.microsoft.com/office/drawing/2014/main" val="2678118694"/>
                    </a:ext>
                  </a:extLst>
                </a:gridCol>
              </a:tblGrid>
              <a:tr h="216852">
                <a:tc>
                  <a:txBody>
                    <a:bodyPr/>
                    <a:lstStyle/>
                    <a:p>
                      <a:pPr algn="l" fontAlgn="b">
                        <a:buNone/>
                      </a:pPr>
                      <a:r>
                        <a:rPr lang="en-US" sz="1100" u="none" strike="noStrike" dirty="0">
                          <a:effectLst/>
                        </a:rPr>
                        <a:t> Workload act vs plan </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810711914"/>
                  </a:ext>
                </a:extLst>
              </a:tr>
            </a:tbl>
          </a:graphicData>
        </a:graphic>
      </p:graphicFrame>
      <p:pic>
        <p:nvPicPr>
          <p:cNvPr id="13" name="Picture 12">
            <a:extLst>
              <a:ext uri="{FF2B5EF4-FFF2-40B4-BE49-F238E27FC236}">
                <a16:creationId xmlns:a16="http://schemas.microsoft.com/office/drawing/2014/main" id="{FF2E116F-6CB0-AC60-D27C-F560F575DB51}"/>
              </a:ext>
            </a:extLst>
          </p:cNvPr>
          <p:cNvPicPr>
            <a:picLocks noChangeAspect="1"/>
          </p:cNvPicPr>
          <p:nvPr/>
        </p:nvPicPr>
        <p:blipFill>
          <a:blip r:embed="rId3"/>
          <a:stretch>
            <a:fillRect/>
          </a:stretch>
        </p:blipFill>
        <p:spPr>
          <a:xfrm>
            <a:off x="4555953" y="3383780"/>
            <a:ext cx="3974360" cy="2598359"/>
          </a:xfrm>
          <a:prstGeom prst="rect">
            <a:avLst/>
          </a:prstGeom>
        </p:spPr>
      </p:pic>
      <p:sp>
        <p:nvSpPr>
          <p:cNvPr id="14" name="TextBox 13">
            <a:extLst>
              <a:ext uri="{FF2B5EF4-FFF2-40B4-BE49-F238E27FC236}">
                <a16:creationId xmlns:a16="http://schemas.microsoft.com/office/drawing/2014/main" id="{3A9586D6-49F6-F5A5-D38A-E70A9A3815B2}"/>
              </a:ext>
            </a:extLst>
          </p:cNvPr>
          <p:cNvSpPr txBox="1"/>
          <p:nvPr/>
        </p:nvSpPr>
        <p:spPr>
          <a:xfrm>
            <a:off x="4657552" y="2281488"/>
            <a:ext cx="3599480" cy="553998"/>
          </a:xfrm>
          <a:prstGeom prst="rect">
            <a:avLst/>
          </a:prstGeom>
          <a:noFill/>
        </p:spPr>
        <p:txBody>
          <a:bodyPr wrap="square">
            <a:spAutoFit/>
          </a:bodyPr>
          <a:lstStyle/>
          <a:p>
            <a:r>
              <a:rPr lang="en-US" sz="1000" dirty="0"/>
              <a:t>How the visual should look?</a:t>
            </a:r>
            <a:br>
              <a:rPr lang="en-US" sz="1000" dirty="0"/>
            </a:br>
            <a:r>
              <a:rPr lang="en-US" sz="1000" dirty="0"/>
              <a:t>– Exactly like this below show it at fiscal year default and then be able to drill down to Fiscal quarter and week.</a:t>
            </a:r>
          </a:p>
        </p:txBody>
      </p:sp>
      <p:graphicFrame>
        <p:nvGraphicFramePr>
          <p:cNvPr id="15" name="Table 14">
            <a:extLst>
              <a:ext uri="{FF2B5EF4-FFF2-40B4-BE49-F238E27FC236}">
                <a16:creationId xmlns:a16="http://schemas.microsoft.com/office/drawing/2014/main" id="{F93587D5-11F9-090D-5C06-9BB9D22A4030}"/>
              </a:ext>
            </a:extLst>
          </p:cNvPr>
          <p:cNvGraphicFramePr>
            <a:graphicFrameLocks noGrp="1"/>
          </p:cNvGraphicFramePr>
          <p:nvPr>
            <p:extLst>
              <p:ext uri="{D42A27DB-BD31-4B8C-83A1-F6EECF244321}">
                <p14:modId xmlns:p14="http://schemas.microsoft.com/office/powerpoint/2010/main" val="4131651443"/>
              </p:ext>
            </p:extLst>
          </p:nvPr>
        </p:nvGraphicFramePr>
        <p:xfrm>
          <a:off x="9022022" y="1898285"/>
          <a:ext cx="2692400" cy="190500"/>
        </p:xfrm>
        <a:graphic>
          <a:graphicData uri="http://schemas.openxmlformats.org/drawingml/2006/table">
            <a:tbl>
              <a:tblPr>
                <a:tableStyleId>{5C22544A-7EE6-4342-B048-85BDC9FD1C3A}</a:tableStyleId>
              </a:tblPr>
              <a:tblGrid>
                <a:gridCol w="2692400">
                  <a:extLst>
                    <a:ext uri="{9D8B030D-6E8A-4147-A177-3AD203B41FA5}">
                      <a16:colId xmlns:a16="http://schemas.microsoft.com/office/drawing/2014/main" val="3584336261"/>
                    </a:ext>
                  </a:extLst>
                </a:gridCol>
              </a:tblGrid>
              <a:tr h="190500">
                <a:tc>
                  <a:txBody>
                    <a:bodyPr/>
                    <a:lstStyle/>
                    <a:p>
                      <a:pPr algn="l" fontAlgn="b">
                        <a:buNone/>
                      </a:pPr>
                      <a:r>
                        <a:rPr lang="en-US" sz="1100" u="none" strike="noStrike" dirty="0">
                          <a:effectLst/>
                        </a:rPr>
                        <a:t>ACT Trend with actual and plan comparison</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82548593"/>
                  </a:ext>
                </a:extLst>
              </a:tr>
            </a:tbl>
          </a:graphicData>
        </a:graphic>
      </p:graphicFrame>
      <p:sp>
        <p:nvSpPr>
          <p:cNvPr id="16" name="TextBox 15">
            <a:extLst>
              <a:ext uri="{FF2B5EF4-FFF2-40B4-BE49-F238E27FC236}">
                <a16:creationId xmlns:a16="http://schemas.microsoft.com/office/drawing/2014/main" id="{CCDBA2A1-C352-6540-DBF0-A4E37A5E514E}"/>
              </a:ext>
            </a:extLst>
          </p:cNvPr>
          <p:cNvSpPr txBox="1"/>
          <p:nvPr/>
        </p:nvSpPr>
        <p:spPr>
          <a:xfrm>
            <a:off x="8787592" y="2281488"/>
            <a:ext cx="3264200" cy="553998"/>
          </a:xfrm>
          <a:prstGeom prst="rect">
            <a:avLst/>
          </a:prstGeom>
          <a:noFill/>
        </p:spPr>
        <p:txBody>
          <a:bodyPr wrap="square">
            <a:spAutoFit/>
          </a:bodyPr>
          <a:lstStyle/>
          <a:p>
            <a:r>
              <a:rPr lang="en-US" sz="1000" dirty="0"/>
              <a:t>How the visual should look?</a:t>
            </a:r>
            <a:br>
              <a:rPr lang="en-US" sz="1000" dirty="0"/>
            </a:br>
            <a:r>
              <a:rPr lang="en-US" sz="1000" dirty="0"/>
              <a:t>– Exactly like this below show it at fiscal year default and then be able to drill down to Fiscal quarter and week.</a:t>
            </a:r>
          </a:p>
        </p:txBody>
      </p:sp>
      <p:pic>
        <p:nvPicPr>
          <p:cNvPr id="17" name="Picture 16">
            <a:extLst>
              <a:ext uri="{FF2B5EF4-FFF2-40B4-BE49-F238E27FC236}">
                <a16:creationId xmlns:a16="http://schemas.microsoft.com/office/drawing/2014/main" id="{BD1322D8-B3FD-7D1E-075D-9FF419525A9A}"/>
              </a:ext>
            </a:extLst>
          </p:cNvPr>
          <p:cNvPicPr>
            <a:picLocks noChangeAspect="1"/>
          </p:cNvPicPr>
          <p:nvPr/>
        </p:nvPicPr>
        <p:blipFill>
          <a:blip r:embed="rId4"/>
          <a:stretch>
            <a:fillRect/>
          </a:stretch>
        </p:blipFill>
        <p:spPr>
          <a:xfrm>
            <a:off x="8605912" y="3322565"/>
            <a:ext cx="3445880" cy="2659574"/>
          </a:xfrm>
          <a:prstGeom prst="rect">
            <a:avLst/>
          </a:prstGeom>
        </p:spPr>
      </p:pic>
    </p:spTree>
    <p:extLst>
      <p:ext uri="{BB962C8B-B14F-4D97-AF65-F5344CB8AC3E}">
        <p14:creationId xmlns:p14="http://schemas.microsoft.com/office/powerpoint/2010/main" val="3663531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E84A20-5839-F31A-ABE1-0E19C767CEDE}"/>
              </a:ext>
            </a:extLst>
          </p:cNvPr>
          <p:cNvSpPr txBox="1"/>
          <p:nvPr/>
        </p:nvSpPr>
        <p:spPr>
          <a:xfrm>
            <a:off x="90229" y="247180"/>
            <a:ext cx="671994" cy="276999"/>
          </a:xfrm>
          <a:prstGeom prst="rect">
            <a:avLst/>
          </a:prstGeom>
          <a:noFill/>
        </p:spPr>
        <p:txBody>
          <a:bodyPr wrap="square" rtlCol="0">
            <a:spAutoFit/>
          </a:bodyPr>
          <a:lstStyle/>
          <a:p>
            <a:r>
              <a:rPr lang="en-US" sz="1200" dirty="0"/>
              <a:t>Layer 4</a:t>
            </a:r>
          </a:p>
        </p:txBody>
      </p:sp>
      <p:sp>
        <p:nvSpPr>
          <p:cNvPr id="3" name="TextBox 2">
            <a:extLst>
              <a:ext uri="{FF2B5EF4-FFF2-40B4-BE49-F238E27FC236}">
                <a16:creationId xmlns:a16="http://schemas.microsoft.com/office/drawing/2014/main" id="{BA2D5E5B-BF58-3447-E436-F59B8CE37A7E}"/>
              </a:ext>
            </a:extLst>
          </p:cNvPr>
          <p:cNvSpPr txBox="1"/>
          <p:nvPr/>
        </p:nvSpPr>
        <p:spPr>
          <a:xfrm>
            <a:off x="90229" y="615619"/>
            <a:ext cx="945283" cy="261610"/>
          </a:xfrm>
          <a:prstGeom prst="rect">
            <a:avLst/>
          </a:prstGeom>
          <a:noFill/>
        </p:spPr>
        <p:txBody>
          <a:bodyPr wrap="square">
            <a:spAutoFit/>
          </a:bodyPr>
          <a:lstStyle/>
          <a:p>
            <a:r>
              <a:rPr lang="en-US" sz="1100" dirty="0"/>
              <a:t>SLO Trend</a:t>
            </a:r>
          </a:p>
        </p:txBody>
      </p:sp>
      <p:sp>
        <p:nvSpPr>
          <p:cNvPr id="5" name="TextBox 4">
            <a:extLst>
              <a:ext uri="{FF2B5EF4-FFF2-40B4-BE49-F238E27FC236}">
                <a16:creationId xmlns:a16="http://schemas.microsoft.com/office/drawing/2014/main" id="{FD9C7581-B1F9-8415-3A66-050A8F840254}"/>
              </a:ext>
            </a:extLst>
          </p:cNvPr>
          <p:cNvSpPr txBox="1"/>
          <p:nvPr/>
        </p:nvSpPr>
        <p:spPr>
          <a:xfrm>
            <a:off x="2214304" y="247180"/>
            <a:ext cx="1957646" cy="261610"/>
          </a:xfrm>
          <a:prstGeom prst="rect">
            <a:avLst/>
          </a:prstGeom>
          <a:noFill/>
        </p:spPr>
        <p:txBody>
          <a:bodyPr wrap="square">
            <a:spAutoFit/>
          </a:bodyPr>
          <a:lstStyle/>
          <a:p>
            <a:r>
              <a:rPr lang="en-US" sz="1100" dirty="0"/>
              <a:t>SLO Region Wise Heatmap</a:t>
            </a:r>
          </a:p>
        </p:txBody>
      </p:sp>
      <p:sp>
        <p:nvSpPr>
          <p:cNvPr id="6" name="TextBox 5">
            <a:extLst>
              <a:ext uri="{FF2B5EF4-FFF2-40B4-BE49-F238E27FC236}">
                <a16:creationId xmlns:a16="http://schemas.microsoft.com/office/drawing/2014/main" id="{321ED685-ECAC-7F4A-DCF6-32304DA63A03}"/>
              </a:ext>
            </a:extLst>
          </p:cNvPr>
          <p:cNvSpPr txBox="1"/>
          <p:nvPr/>
        </p:nvSpPr>
        <p:spPr>
          <a:xfrm>
            <a:off x="5181249" y="877229"/>
            <a:ext cx="2176905" cy="861774"/>
          </a:xfrm>
          <a:prstGeom prst="rect">
            <a:avLst/>
          </a:prstGeom>
          <a:noFill/>
        </p:spPr>
        <p:txBody>
          <a:bodyPr wrap="square">
            <a:spAutoFit/>
          </a:bodyPr>
          <a:lstStyle/>
          <a:p>
            <a:r>
              <a:rPr lang="en-US" sz="1000" dirty="0"/>
              <a:t>How the visual should look?</a:t>
            </a:r>
            <a:br>
              <a:rPr lang="en-US" sz="1000" dirty="0"/>
            </a:br>
            <a:r>
              <a:rPr lang="en-US" sz="1000" dirty="0"/>
              <a:t>– Exactly like this below show it at fiscal year default and then be able to drill down to Fiscal quarter and week  c</a:t>
            </a:r>
          </a:p>
        </p:txBody>
      </p:sp>
      <p:pic>
        <p:nvPicPr>
          <p:cNvPr id="7" name="Picture 6">
            <a:extLst>
              <a:ext uri="{FF2B5EF4-FFF2-40B4-BE49-F238E27FC236}">
                <a16:creationId xmlns:a16="http://schemas.microsoft.com/office/drawing/2014/main" id="{21359A5C-CD1F-9222-50C2-6DD8676376AF}"/>
              </a:ext>
            </a:extLst>
          </p:cNvPr>
          <p:cNvPicPr>
            <a:picLocks noChangeAspect="1"/>
          </p:cNvPicPr>
          <p:nvPr/>
        </p:nvPicPr>
        <p:blipFill>
          <a:blip r:embed="rId2"/>
          <a:stretch>
            <a:fillRect/>
          </a:stretch>
        </p:blipFill>
        <p:spPr>
          <a:xfrm>
            <a:off x="1035512" y="1798697"/>
            <a:ext cx="3513058" cy="1695757"/>
          </a:xfrm>
          <a:prstGeom prst="rect">
            <a:avLst/>
          </a:prstGeom>
        </p:spPr>
      </p:pic>
      <p:sp>
        <p:nvSpPr>
          <p:cNvPr id="8" name="TextBox 7">
            <a:extLst>
              <a:ext uri="{FF2B5EF4-FFF2-40B4-BE49-F238E27FC236}">
                <a16:creationId xmlns:a16="http://schemas.microsoft.com/office/drawing/2014/main" id="{96994089-6192-2620-F66D-237D88647D5A}"/>
              </a:ext>
            </a:extLst>
          </p:cNvPr>
          <p:cNvSpPr txBox="1"/>
          <p:nvPr/>
        </p:nvSpPr>
        <p:spPr>
          <a:xfrm>
            <a:off x="5290879" y="254874"/>
            <a:ext cx="1957646" cy="261610"/>
          </a:xfrm>
          <a:prstGeom prst="rect">
            <a:avLst/>
          </a:prstGeom>
          <a:noFill/>
        </p:spPr>
        <p:txBody>
          <a:bodyPr wrap="square">
            <a:spAutoFit/>
          </a:bodyPr>
          <a:lstStyle/>
          <a:p>
            <a:r>
              <a:rPr lang="en-US" sz="1100" dirty="0"/>
              <a:t>SLO Product Wise Heatmap</a:t>
            </a:r>
          </a:p>
        </p:txBody>
      </p:sp>
      <p:sp>
        <p:nvSpPr>
          <p:cNvPr id="9" name="TextBox 8">
            <a:extLst>
              <a:ext uri="{FF2B5EF4-FFF2-40B4-BE49-F238E27FC236}">
                <a16:creationId xmlns:a16="http://schemas.microsoft.com/office/drawing/2014/main" id="{5418CBE9-E3C9-3D27-750F-2D147D8EE4EB}"/>
              </a:ext>
            </a:extLst>
          </p:cNvPr>
          <p:cNvSpPr txBox="1"/>
          <p:nvPr/>
        </p:nvSpPr>
        <p:spPr>
          <a:xfrm>
            <a:off x="2147445" y="898824"/>
            <a:ext cx="2176905" cy="861774"/>
          </a:xfrm>
          <a:prstGeom prst="rect">
            <a:avLst/>
          </a:prstGeom>
          <a:noFill/>
        </p:spPr>
        <p:txBody>
          <a:bodyPr wrap="square">
            <a:spAutoFit/>
          </a:bodyPr>
          <a:lstStyle/>
          <a:p>
            <a:r>
              <a:rPr lang="en-US" sz="1000" dirty="0"/>
              <a:t>How the visual should look?</a:t>
            </a:r>
            <a:br>
              <a:rPr lang="en-US" sz="1000" dirty="0"/>
            </a:br>
            <a:r>
              <a:rPr lang="en-US" sz="1000" dirty="0"/>
              <a:t>– Exactly like this below show it at fiscal year default and then be able to drill down to Fiscal quarter and week  </a:t>
            </a:r>
          </a:p>
        </p:txBody>
      </p:sp>
      <p:pic>
        <p:nvPicPr>
          <p:cNvPr id="10" name="Picture 9">
            <a:extLst>
              <a:ext uri="{FF2B5EF4-FFF2-40B4-BE49-F238E27FC236}">
                <a16:creationId xmlns:a16="http://schemas.microsoft.com/office/drawing/2014/main" id="{A35E350D-EA88-C502-2C6D-5487B2A4B7CF}"/>
              </a:ext>
            </a:extLst>
          </p:cNvPr>
          <p:cNvPicPr>
            <a:picLocks noChangeAspect="1"/>
          </p:cNvPicPr>
          <p:nvPr/>
        </p:nvPicPr>
        <p:blipFill>
          <a:blip r:embed="rId3"/>
          <a:stretch>
            <a:fillRect/>
          </a:stretch>
        </p:blipFill>
        <p:spPr>
          <a:xfrm>
            <a:off x="4840239" y="1798697"/>
            <a:ext cx="3306641" cy="1695757"/>
          </a:xfrm>
          <a:prstGeom prst="rect">
            <a:avLst/>
          </a:prstGeom>
        </p:spPr>
      </p:pic>
      <p:sp>
        <p:nvSpPr>
          <p:cNvPr id="11" name="TextBox 10">
            <a:extLst>
              <a:ext uri="{FF2B5EF4-FFF2-40B4-BE49-F238E27FC236}">
                <a16:creationId xmlns:a16="http://schemas.microsoft.com/office/drawing/2014/main" id="{EDCE27BB-2831-2CB2-159F-BC6686B9F654}"/>
              </a:ext>
            </a:extLst>
          </p:cNvPr>
          <p:cNvSpPr txBox="1"/>
          <p:nvPr/>
        </p:nvSpPr>
        <p:spPr>
          <a:xfrm>
            <a:off x="8615104" y="247180"/>
            <a:ext cx="1957646" cy="261610"/>
          </a:xfrm>
          <a:prstGeom prst="rect">
            <a:avLst/>
          </a:prstGeom>
          <a:noFill/>
        </p:spPr>
        <p:txBody>
          <a:bodyPr wrap="square">
            <a:spAutoFit/>
          </a:bodyPr>
          <a:lstStyle/>
          <a:p>
            <a:r>
              <a:rPr lang="en-US" sz="1100" dirty="0"/>
              <a:t>SLO CQN Wise Heatmap</a:t>
            </a:r>
          </a:p>
        </p:txBody>
      </p:sp>
      <p:sp>
        <p:nvSpPr>
          <p:cNvPr id="13" name="TextBox 12">
            <a:extLst>
              <a:ext uri="{FF2B5EF4-FFF2-40B4-BE49-F238E27FC236}">
                <a16:creationId xmlns:a16="http://schemas.microsoft.com/office/drawing/2014/main" id="{38D6CEEC-C781-5CE9-0797-7D6523B8369C}"/>
              </a:ext>
            </a:extLst>
          </p:cNvPr>
          <p:cNvSpPr txBox="1"/>
          <p:nvPr/>
        </p:nvSpPr>
        <p:spPr>
          <a:xfrm>
            <a:off x="8395845" y="877229"/>
            <a:ext cx="2176905" cy="861774"/>
          </a:xfrm>
          <a:prstGeom prst="rect">
            <a:avLst/>
          </a:prstGeom>
          <a:noFill/>
        </p:spPr>
        <p:txBody>
          <a:bodyPr wrap="square">
            <a:spAutoFit/>
          </a:bodyPr>
          <a:lstStyle/>
          <a:p>
            <a:r>
              <a:rPr lang="en-US" sz="1000" dirty="0"/>
              <a:t>How the visual should look?</a:t>
            </a:r>
            <a:br>
              <a:rPr lang="en-US" sz="1000" dirty="0"/>
            </a:br>
            <a:r>
              <a:rPr lang="en-US" sz="1000" dirty="0"/>
              <a:t>– Exactly like this below show it at fiscal year default and then be able to drill down to Fiscal quarter and week  c</a:t>
            </a:r>
          </a:p>
        </p:txBody>
      </p:sp>
      <p:pic>
        <p:nvPicPr>
          <p:cNvPr id="14" name="Picture 13">
            <a:extLst>
              <a:ext uri="{FF2B5EF4-FFF2-40B4-BE49-F238E27FC236}">
                <a16:creationId xmlns:a16="http://schemas.microsoft.com/office/drawing/2014/main" id="{372E6765-BFA5-9229-5562-8D190082432D}"/>
              </a:ext>
            </a:extLst>
          </p:cNvPr>
          <p:cNvPicPr>
            <a:picLocks noChangeAspect="1"/>
          </p:cNvPicPr>
          <p:nvPr/>
        </p:nvPicPr>
        <p:blipFill>
          <a:blip r:embed="rId4"/>
          <a:stretch>
            <a:fillRect/>
          </a:stretch>
        </p:blipFill>
        <p:spPr>
          <a:xfrm>
            <a:off x="8323360" y="1798697"/>
            <a:ext cx="3513059" cy="1817005"/>
          </a:xfrm>
          <a:prstGeom prst="rect">
            <a:avLst/>
          </a:prstGeom>
        </p:spPr>
      </p:pic>
      <p:graphicFrame>
        <p:nvGraphicFramePr>
          <p:cNvPr id="15" name="Table 14">
            <a:extLst>
              <a:ext uri="{FF2B5EF4-FFF2-40B4-BE49-F238E27FC236}">
                <a16:creationId xmlns:a16="http://schemas.microsoft.com/office/drawing/2014/main" id="{B6D4AA2E-9906-9974-3925-0D0A14E9E6AC}"/>
              </a:ext>
            </a:extLst>
          </p:cNvPr>
          <p:cNvGraphicFramePr>
            <a:graphicFrameLocks noGrp="1"/>
          </p:cNvGraphicFramePr>
          <p:nvPr>
            <p:extLst>
              <p:ext uri="{D42A27DB-BD31-4B8C-83A1-F6EECF244321}">
                <p14:modId xmlns:p14="http://schemas.microsoft.com/office/powerpoint/2010/main" val="1473448825"/>
              </p:ext>
            </p:extLst>
          </p:nvPr>
        </p:nvGraphicFramePr>
        <p:xfrm>
          <a:off x="2147445" y="4071117"/>
          <a:ext cx="5281871" cy="344805"/>
        </p:xfrm>
        <a:graphic>
          <a:graphicData uri="http://schemas.openxmlformats.org/drawingml/2006/table">
            <a:tbl>
              <a:tblPr>
                <a:tableStyleId>{5C22544A-7EE6-4342-B048-85BDC9FD1C3A}</a:tableStyleId>
              </a:tblPr>
              <a:tblGrid>
                <a:gridCol w="5281871">
                  <a:extLst>
                    <a:ext uri="{9D8B030D-6E8A-4147-A177-3AD203B41FA5}">
                      <a16:colId xmlns:a16="http://schemas.microsoft.com/office/drawing/2014/main" val="3657081882"/>
                    </a:ext>
                  </a:extLst>
                </a:gridCol>
              </a:tblGrid>
              <a:tr h="190500">
                <a:tc>
                  <a:txBody>
                    <a:bodyPr/>
                    <a:lstStyle/>
                    <a:p>
                      <a:pPr algn="l" fontAlgn="b">
                        <a:buNone/>
                      </a:pPr>
                      <a:r>
                        <a:rPr lang="en-US" sz="1100" u="none" strike="noStrike" dirty="0">
                          <a:effectLst/>
                        </a:rPr>
                        <a:t>Showing all the CQN'S across regions with color coding - high SLO - green color , low with red and so on</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49350707"/>
                  </a:ext>
                </a:extLst>
              </a:tr>
            </a:tbl>
          </a:graphicData>
        </a:graphic>
      </p:graphicFrame>
      <p:sp>
        <p:nvSpPr>
          <p:cNvPr id="18" name="TextBox 17">
            <a:extLst>
              <a:ext uri="{FF2B5EF4-FFF2-40B4-BE49-F238E27FC236}">
                <a16:creationId xmlns:a16="http://schemas.microsoft.com/office/drawing/2014/main" id="{3BA0F57A-357D-4EED-4BA8-8357E1BC797A}"/>
              </a:ext>
            </a:extLst>
          </p:cNvPr>
          <p:cNvSpPr txBox="1"/>
          <p:nvPr/>
        </p:nvSpPr>
        <p:spPr>
          <a:xfrm>
            <a:off x="119027" y="3854742"/>
            <a:ext cx="671994" cy="276999"/>
          </a:xfrm>
          <a:prstGeom prst="rect">
            <a:avLst/>
          </a:prstGeom>
          <a:noFill/>
        </p:spPr>
        <p:txBody>
          <a:bodyPr wrap="square" rtlCol="0">
            <a:spAutoFit/>
          </a:bodyPr>
          <a:lstStyle/>
          <a:p>
            <a:r>
              <a:rPr lang="en-US" sz="1200" dirty="0"/>
              <a:t>Layer 5</a:t>
            </a:r>
          </a:p>
        </p:txBody>
      </p:sp>
      <p:sp>
        <p:nvSpPr>
          <p:cNvPr id="19" name="TextBox 18">
            <a:extLst>
              <a:ext uri="{FF2B5EF4-FFF2-40B4-BE49-F238E27FC236}">
                <a16:creationId xmlns:a16="http://schemas.microsoft.com/office/drawing/2014/main" id="{865975B2-35D3-3C50-2450-5240B97852E0}"/>
              </a:ext>
            </a:extLst>
          </p:cNvPr>
          <p:cNvSpPr txBox="1"/>
          <p:nvPr/>
        </p:nvSpPr>
        <p:spPr>
          <a:xfrm>
            <a:off x="51309" y="4243519"/>
            <a:ext cx="945283" cy="261610"/>
          </a:xfrm>
          <a:prstGeom prst="rect">
            <a:avLst/>
          </a:prstGeom>
          <a:noFill/>
        </p:spPr>
        <p:txBody>
          <a:bodyPr wrap="square">
            <a:spAutoFit/>
          </a:bodyPr>
          <a:lstStyle/>
          <a:p>
            <a:r>
              <a:rPr lang="en-US" sz="1100" dirty="0"/>
              <a:t>Geo Map</a:t>
            </a:r>
          </a:p>
        </p:txBody>
      </p:sp>
    </p:spTree>
    <p:extLst>
      <p:ext uri="{BB962C8B-B14F-4D97-AF65-F5344CB8AC3E}">
        <p14:creationId xmlns:p14="http://schemas.microsoft.com/office/powerpoint/2010/main" val="3748899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20884</TotalTime>
  <Words>2687</Words>
  <Application>Microsoft Office PowerPoint</Application>
  <PresentationFormat>Widescreen</PresentationFormat>
  <Paragraphs>176</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Aptos Narrow</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Prashant Dhamale</dc:creator>
  <cp:lastModifiedBy>Hrishikesh Yadav</cp:lastModifiedBy>
  <cp:revision>13</cp:revision>
  <dcterms:created xsi:type="dcterms:W3CDTF">2026-06-10T10:56:08Z</dcterms:created>
  <dcterms:modified xsi:type="dcterms:W3CDTF">2026-06-30T14:32:18Z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ad3be33-4108-4738-9e07-d8656a181486_Enabled">
    <vt:lpwstr>true</vt:lpwstr>
  </property>
  <property fmtid="{D5CDD505-2E9C-101B-9397-08002B2CF9AE}" pid="3" name="MSIP_Label_dad3be33-4108-4738-9e07-d8656a181486_SetDate">
    <vt:lpwstr>2026-06-18T10:34:04Z</vt:lpwstr>
  </property>
  <property fmtid="{D5CDD505-2E9C-101B-9397-08002B2CF9AE}" pid="4" name="MSIP_Label_dad3be33-4108-4738-9e07-d8656a181486_Method">
    <vt:lpwstr>Privileged</vt:lpwstr>
  </property>
  <property fmtid="{D5CDD505-2E9C-101B-9397-08002B2CF9AE}" pid="5" name="MSIP_Label_dad3be33-4108-4738-9e07-d8656a181486_Name">
    <vt:lpwstr>Public No Visual Label</vt:lpwstr>
  </property>
  <property fmtid="{D5CDD505-2E9C-101B-9397-08002B2CF9AE}" pid="6" name="MSIP_Label_dad3be33-4108-4738-9e07-d8656a181486_SiteId">
    <vt:lpwstr>945c199a-83a2-4e80-9f8c-5a91be5752dd</vt:lpwstr>
  </property>
  <property fmtid="{D5CDD505-2E9C-101B-9397-08002B2CF9AE}" pid="7" name="MSIP_Label_dad3be33-4108-4738-9e07-d8656a181486_ActionId">
    <vt:lpwstr>f6a32ec9-5397-440a-a86a-3ce439d0aef6</vt:lpwstr>
  </property>
  <property fmtid="{D5CDD505-2E9C-101B-9397-08002B2CF9AE}" pid="8" name="MSIP_Label_dad3be33-4108-4738-9e07-d8656a181486_ContentBits">
    <vt:lpwstr>0</vt:lpwstr>
  </property>
  <property fmtid="{D5CDD505-2E9C-101B-9397-08002B2CF9AE}" pid="9" name="MSIP_Label_dad3be33-4108-4738-9e07-d8656a181486_Tag">
    <vt:lpwstr>10, 0, 1, 1</vt:lpwstr>
  </property>
</Properties>
</file>